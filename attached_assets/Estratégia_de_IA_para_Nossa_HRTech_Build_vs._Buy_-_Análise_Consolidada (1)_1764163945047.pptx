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47247"/>
            <a:ext cx="8001000" cy="10972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1F2937"/>
                </a:solidFill>
              </a:rPr>
              <a:t>Estratégia de IA para Nossa </a:t>
            </a:r>
            <a:pPr algn="ctr" indent="0" marL="0">
              <a:lnSpc>
                <a:spcPts val="4300"/>
              </a:lnSpc>
              <a:buNone/>
            </a:pPr>
            <a:r>
              <a:rPr lang="en-US" sz="3294" b="1" dirty="0">
                <a:solidFill>
                  <a:srgbClr val="2563EB"/>
                </a:solidFill>
              </a:rPr>
              <a:t>HRTech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571500" y="1987358"/>
            <a:ext cx="8001000" cy="28002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486" dirty="0">
                <a:solidFill>
                  <a:srgbClr val="4B5563"/>
                </a:solidFill>
              </a:rPr>
              <a:t>Build vs. Buy: Análise Consolidada de Agentes, Infraestrutura e Voice AI</a:t>
            </a:r>
            <a:endParaRPr lang="en-US" sz="1486" dirty="0"/>
          </a:p>
        </p:txBody>
      </p:sp>
      <p:sp>
        <p:nvSpPr>
          <p:cNvPr id="5" name="Shape 2"/>
          <p:cNvSpPr/>
          <p:nvPr/>
        </p:nvSpPr>
        <p:spPr>
          <a:xfrm>
            <a:off x="1955713" y="2838887"/>
            <a:ext cx="1567942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1955713" y="2838887"/>
            <a:ext cx="28575" cy="8143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4"/>
          <p:cNvSpPr/>
          <p:nvPr/>
        </p:nvSpPr>
        <p:spPr>
          <a:xfrm>
            <a:off x="2184313" y="2981762"/>
            <a:ext cx="1110742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45%</a:t>
            </a:r>
            <a:endParaRPr lang="en-US" sz="1602" dirty="0"/>
          </a:p>
        </p:txBody>
      </p:sp>
      <p:sp>
        <p:nvSpPr>
          <p:cNvPr id="8" name="Text 5"/>
          <p:cNvSpPr/>
          <p:nvPr/>
        </p:nvSpPr>
        <p:spPr>
          <a:xfrm>
            <a:off x="2184313" y="3360381"/>
            <a:ext cx="1110742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Economia com Beam AI</a:t>
            </a:r>
            <a:endParaRPr lang="en-US" sz="727" dirty="0"/>
          </a:p>
        </p:txBody>
      </p:sp>
      <p:sp>
        <p:nvSpPr>
          <p:cNvPr id="9" name="Shape 6"/>
          <p:cNvSpPr/>
          <p:nvPr/>
        </p:nvSpPr>
        <p:spPr>
          <a:xfrm>
            <a:off x="3737967" y="2838887"/>
            <a:ext cx="1660559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737967" y="2838887"/>
            <a:ext cx="28575" cy="8143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8"/>
          <p:cNvSpPr/>
          <p:nvPr/>
        </p:nvSpPr>
        <p:spPr>
          <a:xfrm>
            <a:off x="3966567" y="2981762"/>
            <a:ext cx="120335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2 semanas</a:t>
            </a:r>
            <a:endParaRPr lang="en-US" sz="1602" dirty="0"/>
          </a:p>
        </p:txBody>
      </p:sp>
      <p:sp>
        <p:nvSpPr>
          <p:cNvPr id="12" name="Text 9"/>
          <p:cNvSpPr/>
          <p:nvPr/>
        </p:nvSpPr>
        <p:spPr>
          <a:xfrm>
            <a:off x="3966567" y="3360381"/>
            <a:ext cx="1203359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Time to Market</a:t>
            </a:r>
            <a:endParaRPr lang="en-US" sz="727" dirty="0"/>
          </a:p>
        </p:txBody>
      </p:sp>
      <p:sp>
        <p:nvSpPr>
          <p:cNvPr id="13" name="Shape 10"/>
          <p:cNvSpPr/>
          <p:nvPr/>
        </p:nvSpPr>
        <p:spPr>
          <a:xfrm>
            <a:off x="5612839" y="2838887"/>
            <a:ext cx="1546845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612839" y="2838887"/>
            <a:ext cx="28575" cy="81438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2"/>
          <p:cNvSpPr/>
          <p:nvPr/>
        </p:nvSpPr>
        <p:spPr>
          <a:xfrm>
            <a:off x="5841439" y="2981762"/>
            <a:ext cx="108964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0B981"/>
                </a:solidFill>
              </a:rPr>
              <a:t>R$ 1.735K</a:t>
            </a:r>
            <a:endParaRPr lang="en-US" sz="1602" dirty="0"/>
          </a:p>
        </p:txBody>
      </p:sp>
      <p:sp>
        <p:nvSpPr>
          <p:cNvPr id="16" name="Text 13"/>
          <p:cNvSpPr/>
          <p:nvPr/>
        </p:nvSpPr>
        <p:spPr>
          <a:xfrm>
            <a:off x="5841439" y="3360381"/>
            <a:ext cx="1089645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Investimento 36 meses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2031867" y="4224775"/>
            <a:ext cx="1185332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B7280"/>
                </a:solidFill>
              </a:rPr>
              <a:t>Data: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 Novembro 2025</a:t>
            </a:r>
            <a:endParaRPr lang="en-US" sz="784" dirty="0"/>
          </a:p>
        </p:txBody>
      </p:sp>
      <p:sp>
        <p:nvSpPr>
          <p:cNvPr id="18" name="Text 15"/>
          <p:cNvSpPr/>
          <p:nvPr/>
        </p:nvSpPr>
        <p:spPr>
          <a:xfrm>
            <a:off x="3502949" y="4224775"/>
            <a:ext cx="602838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B7280"/>
                </a:solidFill>
              </a:rPr>
              <a:t>Versão: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 1.0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391537" y="4224775"/>
            <a:ext cx="2720597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6B7280"/>
                </a:solidFill>
              </a:rPr>
              <a:t>Escopo:</a:t>
            </a:r>
            <a:pPr algn="ctr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6B7280"/>
                </a:solidFill>
              </a:rPr>
              <a:t> Análise de Viabilidade Técnica e Financeira</a:t>
            </a:r>
            <a:endParaRPr lang="en-US" sz="78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F2937"/>
                </a:solidFill>
              </a:rPr>
              <a:t>Problema Atual vs. Oportunidade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914400"/>
            <a:ext cx="4000500" cy="30718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❌ Problema Atual</a:t>
            </a:r>
            <a:endParaRPr lang="en-US" sz="987" dirty="0"/>
          </a:p>
        </p:txBody>
      </p:sp>
      <p:sp>
        <p:nvSpPr>
          <p:cNvPr id="5" name="Text 2"/>
          <p:cNvSpPr/>
          <p:nvPr/>
        </p:nvSpPr>
        <p:spPr>
          <a:xfrm>
            <a:off x="428625" y="1364456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C2626"/>
                </a:solidFill>
              </a:rPr>
              <a:t>•</a:t>
            </a:r>
            <a:endParaRPr lang="en-US" sz="784" dirty="0"/>
          </a:p>
        </p:txBody>
      </p:sp>
      <p:sp>
        <p:nvSpPr>
          <p:cNvPr id="6" name="Text 3"/>
          <p:cNvSpPr/>
          <p:nvPr/>
        </p:nvSpPr>
        <p:spPr>
          <a:xfrm>
            <a:off x="607219" y="1371600"/>
            <a:ext cx="314461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Triagem manual de currículos consome 40+ horas/semana</a:t>
            </a:r>
            <a:endParaRPr lang="en-US" sz="834" dirty="0"/>
          </a:p>
        </p:txBody>
      </p:sp>
      <p:sp>
        <p:nvSpPr>
          <p:cNvPr id="7" name="Text 4"/>
          <p:cNvSpPr/>
          <p:nvPr/>
        </p:nvSpPr>
        <p:spPr>
          <a:xfrm>
            <a:off x="428625" y="1643063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C2626"/>
                </a:solidFill>
              </a:rPr>
              <a:t>•</a:t>
            </a:r>
            <a:endParaRPr lang="en-US" sz="784" dirty="0"/>
          </a:p>
        </p:txBody>
      </p:sp>
      <p:sp>
        <p:nvSpPr>
          <p:cNvPr id="8" name="Text 5"/>
          <p:cNvSpPr/>
          <p:nvPr/>
        </p:nvSpPr>
        <p:spPr>
          <a:xfrm>
            <a:off x="607219" y="1650206"/>
            <a:ext cx="28634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Taxa de abandono de candidatos: 35% (espera muito)</a:t>
            </a:r>
            <a:endParaRPr lang="en-US" sz="834" dirty="0"/>
          </a:p>
        </p:txBody>
      </p:sp>
      <p:sp>
        <p:nvSpPr>
          <p:cNvPr id="9" name="Text 6"/>
          <p:cNvSpPr/>
          <p:nvPr/>
        </p:nvSpPr>
        <p:spPr>
          <a:xfrm>
            <a:off x="428625" y="1921669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C2626"/>
                </a:solidFill>
              </a:rPr>
              <a:t>•</a:t>
            </a:r>
            <a:endParaRPr lang="en-US" sz="784" dirty="0"/>
          </a:p>
        </p:txBody>
      </p:sp>
      <p:sp>
        <p:nvSpPr>
          <p:cNvPr id="10" name="Text 7"/>
          <p:cNvSpPr/>
          <p:nvPr/>
        </p:nvSpPr>
        <p:spPr>
          <a:xfrm>
            <a:off x="607219" y="1928813"/>
            <a:ext cx="294802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Custo operacional: R$ 7.812,50/mês (triagens manuais)</a:t>
            </a:r>
            <a:endParaRPr lang="en-US" sz="834" dirty="0"/>
          </a:p>
        </p:txBody>
      </p:sp>
      <p:sp>
        <p:nvSpPr>
          <p:cNvPr id="11" name="Text 8"/>
          <p:cNvSpPr/>
          <p:nvPr/>
        </p:nvSpPr>
        <p:spPr>
          <a:xfrm>
            <a:off x="428625" y="2200275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C2626"/>
                </a:solidFill>
              </a:rPr>
              <a:t>•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607219" y="2207419"/>
            <a:ext cx="224280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Inconsistência na avaliação de candidatos</a:t>
            </a:r>
            <a:endParaRPr lang="en-US" sz="834" dirty="0"/>
          </a:p>
        </p:txBody>
      </p:sp>
      <p:sp>
        <p:nvSpPr>
          <p:cNvPr id="13" name="Text 10"/>
          <p:cNvSpPr/>
          <p:nvPr/>
        </p:nvSpPr>
        <p:spPr>
          <a:xfrm>
            <a:off x="428625" y="2478881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C2626"/>
                </a:solidFill>
              </a:rPr>
              <a:t>•</a:t>
            </a:r>
            <a:endParaRPr lang="en-US" sz="784" dirty="0"/>
          </a:p>
        </p:txBody>
      </p:sp>
      <p:sp>
        <p:nvSpPr>
          <p:cNvPr id="14" name="Text 11"/>
          <p:cNvSpPr/>
          <p:nvPr/>
        </p:nvSpPr>
        <p:spPr>
          <a:xfrm>
            <a:off x="607219" y="2486025"/>
            <a:ext cx="228725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Sem escalabilidade (20 vagas/mês é limite)</a:t>
            </a:r>
            <a:endParaRPr lang="en-US" sz="834" dirty="0"/>
          </a:p>
        </p:txBody>
      </p:sp>
      <p:sp>
        <p:nvSpPr>
          <p:cNvPr id="15" name="Text 12"/>
          <p:cNvSpPr/>
          <p:nvPr/>
        </p:nvSpPr>
        <p:spPr>
          <a:xfrm>
            <a:off x="428625" y="2757488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DC2626"/>
                </a:solidFill>
              </a:rPr>
              <a:t>•</a:t>
            </a:r>
            <a:endParaRPr lang="en-US" sz="784" dirty="0"/>
          </a:p>
        </p:txBody>
      </p:sp>
      <p:sp>
        <p:nvSpPr>
          <p:cNvPr id="16" name="Text 13"/>
          <p:cNvSpPr/>
          <p:nvPr/>
        </p:nvSpPr>
        <p:spPr>
          <a:xfrm>
            <a:off x="607219" y="2764631"/>
            <a:ext cx="2022435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Feedback lento para candidatos (dias)</a:t>
            </a:r>
            <a:endParaRPr lang="en-US" sz="834" dirty="0"/>
          </a:p>
        </p:txBody>
      </p:sp>
      <p:sp>
        <p:nvSpPr>
          <p:cNvPr id="17" name="Text 14"/>
          <p:cNvSpPr/>
          <p:nvPr/>
        </p:nvSpPr>
        <p:spPr>
          <a:xfrm>
            <a:off x="4714875" y="914400"/>
            <a:ext cx="4000500" cy="307181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00000"/>
                </a:solidFill>
              </a:rPr>
              <a:t>✅ Oportunidade</a:t>
            </a:r>
            <a:endParaRPr lang="en-US" sz="987" dirty="0"/>
          </a:p>
        </p:txBody>
      </p:sp>
      <p:sp>
        <p:nvSpPr>
          <p:cNvPr id="18" name="Text 15"/>
          <p:cNvSpPr/>
          <p:nvPr/>
        </p:nvSpPr>
        <p:spPr>
          <a:xfrm>
            <a:off x="4714875" y="1364456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•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4893469" y="1371600"/>
            <a:ext cx="200929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Automatizar 80% das triagens com IA</a:t>
            </a:r>
            <a:endParaRPr lang="en-US" sz="834" dirty="0"/>
          </a:p>
        </p:txBody>
      </p:sp>
      <p:sp>
        <p:nvSpPr>
          <p:cNvPr id="20" name="Text 17"/>
          <p:cNvSpPr/>
          <p:nvPr/>
        </p:nvSpPr>
        <p:spPr>
          <a:xfrm>
            <a:off x="4714875" y="1643063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•</a:t>
            </a:r>
            <a:endParaRPr lang="en-US" sz="784" dirty="0"/>
          </a:p>
        </p:txBody>
      </p:sp>
      <p:sp>
        <p:nvSpPr>
          <p:cNvPr id="21" name="Text 18"/>
          <p:cNvSpPr/>
          <p:nvPr/>
        </p:nvSpPr>
        <p:spPr>
          <a:xfrm>
            <a:off x="4893469" y="1650206"/>
            <a:ext cx="27085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Reduzir tempo de triagem de 40h para 8h/semana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4714875" y="1921669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•</a:t>
            </a:r>
            <a:endParaRPr lang="en-US" sz="784" dirty="0"/>
          </a:p>
        </p:txBody>
      </p:sp>
      <p:sp>
        <p:nvSpPr>
          <p:cNvPr id="23" name="Text 20"/>
          <p:cNvSpPr/>
          <p:nvPr/>
        </p:nvSpPr>
        <p:spPr>
          <a:xfrm>
            <a:off x="4893469" y="1928813"/>
            <a:ext cx="2925170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Feedback automático em minutos (via WhatsApp/SMS)</a:t>
            </a:r>
            <a:endParaRPr lang="en-US" sz="834" dirty="0"/>
          </a:p>
        </p:txBody>
      </p:sp>
      <p:sp>
        <p:nvSpPr>
          <p:cNvPr id="24" name="Text 21"/>
          <p:cNvSpPr/>
          <p:nvPr/>
        </p:nvSpPr>
        <p:spPr>
          <a:xfrm>
            <a:off x="4714875" y="2200275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•</a:t>
            </a:r>
            <a:endParaRPr lang="en-US" sz="784" dirty="0"/>
          </a:p>
        </p:txBody>
      </p:sp>
      <p:sp>
        <p:nvSpPr>
          <p:cNvPr id="25" name="Text 22"/>
          <p:cNvSpPr/>
          <p:nvPr/>
        </p:nvSpPr>
        <p:spPr>
          <a:xfrm>
            <a:off x="4893469" y="2207419"/>
            <a:ext cx="234384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Escalar para 100+ vagas/mês sem overhead</a:t>
            </a:r>
            <a:endParaRPr lang="en-US" sz="834" dirty="0"/>
          </a:p>
        </p:txBody>
      </p:sp>
      <p:sp>
        <p:nvSpPr>
          <p:cNvPr id="26" name="Text 23"/>
          <p:cNvSpPr/>
          <p:nvPr/>
        </p:nvSpPr>
        <p:spPr>
          <a:xfrm>
            <a:off x="4714875" y="2478881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•</a:t>
            </a:r>
            <a:endParaRPr lang="en-US" sz="784" dirty="0"/>
          </a:p>
        </p:txBody>
      </p:sp>
      <p:sp>
        <p:nvSpPr>
          <p:cNvPr id="27" name="Text 24"/>
          <p:cNvSpPr/>
          <p:nvPr/>
        </p:nvSpPr>
        <p:spPr>
          <a:xfrm>
            <a:off x="4893469" y="2486025"/>
            <a:ext cx="221913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Economia de R$ 4.412,50/mês vs. manual</a:t>
            </a:r>
            <a:endParaRPr lang="en-US" sz="834" dirty="0"/>
          </a:p>
        </p:txBody>
      </p:sp>
      <p:sp>
        <p:nvSpPr>
          <p:cNvPr id="28" name="Text 25"/>
          <p:cNvSpPr/>
          <p:nvPr/>
        </p:nvSpPr>
        <p:spPr>
          <a:xfrm>
            <a:off x="4714875" y="2757488"/>
            <a:ext cx="429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10B981"/>
                </a:solidFill>
              </a:rPr>
              <a:t>•</a:t>
            </a:r>
            <a:endParaRPr lang="en-US" sz="784" dirty="0"/>
          </a:p>
        </p:txBody>
      </p:sp>
      <p:sp>
        <p:nvSpPr>
          <p:cNvPr id="29" name="Text 26"/>
          <p:cNvSpPr/>
          <p:nvPr/>
        </p:nvSpPr>
        <p:spPr>
          <a:xfrm>
            <a:off x="4893469" y="2764631"/>
            <a:ext cx="191271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Diferencial competitivo no mercado</a:t>
            </a:r>
            <a:endParaRPr lang="en-US" sz="834" dirty="0"/>
          </a:p>
        </p:txBody>
      </p:sp>
      <p:sp>
        <p:nvSpPr>
          <p:cNvPr id="30" name="Shape 27"/>
          <p:cNvSpPr/>
          <p:nvPr/>
        </p:nvSpPr>
        <p:spPr>
          <a:xfrm>
            <a:off x="428625" y="3457575"/>
            <a:ext cx="4071938" cy="7715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Shape 28"/>
          <p:cNvSpPr/>
          <p:nvPr/>
        </p:nvSpPr>
        <p:spPr>
          <a:xfrm>
            <a:off x="428625" y="3457575"/>
            <a:ext cx="28575" cy="7715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2" name="Text 29"/>
          <p:cNvSpPr/>
          <p:nvPr/>
        </p:nvSpPr>
        <p:spPr>
          <a:xfrm>
            <a:off x="571500" y="3600450"/>
            <a:ext cx="37861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563EB"/>
                </a:solidFill>
              </a:rPr>
              <a:t>40h → 8h</a:t>
            </a:r>
            <a:endParaRPr lang="en-US" sz="1397" dirty="0"/>
          </a:p>
        </p:txBody>
      </p:sp>
      <p:sp>
        <p:nvSpPr>
          <p:cNvPr id="33" name="Text 30"/>
          <p:cNvSpPr/>
          <p:nvPr/>
        </p:nvSpPr>
        <p:spPr>
          <a:xfrm>
            <a:off x="571500" y="3936206"/>
            <a:ext cx="3786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Redução de tempo de triagem por semana</a:t>
            </a:r>
            <a:endParaRPr lang="en-US" sz="727" dirty="0"/>
          </a:p>
        </p:txBody>
      </p:sp>
      <p:sp>
        <p:nvSpPr>
          <p:cNvPr id="34" name="Shape 31"/>
          <p:cNvSpPr/>
          <p:nvPr/>
        </p:nvSpPr>
        <p:spPr>
          <a:xfrm>
            <a:off x="4643438" y="3457575"/>
            <a:ext cx="4071938" cy="7715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5" name="Shape 32"/>
          <p:cNvSpPr/>
          <p:nvPr/>
        </p:nvSpPr>
        <p:spPr>
          <a:xfrm>
            <a:off x="4643438" y="3457575"/>
            <a:ext cx="28575" cy="7715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33"/>
          <p:cNvSpPr/>
          <p:nvPr/>
        </p:nvSpPr>
        <p:spPr>
          <a:xfrm>
            <a:off x="4786313" y="3600450"/>
            <a:ext cx="37861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563EB"/>
                </a:solidFill>
              </a:rPr>
              <a:t>R$ 4.412</a:t>
            </a:r>
            <a:endParaRPr lang="en-US" sz="1397" dirty="0"/>
          </a:p>
        </p:txBody>
      </p:sp>
      <p:sp>
        <p:nvSpPr>
          <p:cNvPr id="37" name="Text 34"/>
          <p:cNvSpPr/>
          <p:nvPr/>
        </p:nvSpPr>
        <p:spPr>
          <a:xfrm>
            <a:off x="4786313" y="3936206"/>
            <a:ext cx="3786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Economia mensal vs. triagem manual</a:t>
            </a:r>
            <a:endParaRPr lang="en-US" sz="727" dirty="0"/>
          </a:p>
        </p:txBody>
      </p:sp>
      <p:sp>
        <p:nvSpPr>
          <p:cNvPr id="38" name="Shape 35"/>
          <p:cNvSpPr/>
          <p:nvPr/>
        </p:nvSpPr>
        <p:spPr>
          <a:xfrm>
            <a:off x="428625" y="4371975"/>
            <a:ext cx="4071938" cy="7715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9" name="Shape 36"/>
          <p:cNvSpPr/>
          <p:nvPr/>
        </p:nvSpPr>
        <p:spPr>
          <a:xfrm>
            <a:off x="428625" y="4371975"/>
            <a:ext cx="28575" cy="7715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0" name="Text 37"/>
          <p:cNvSpPr/>
          <p:nvPr/>
        </p:nvSpPr>
        <p:spPr>
          <a:xfrm>
            <a:off x="571500" y="4514850"/>
            <a:ext cx="37861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563EB"/>
                </a:solidFill>
              </a:rPr>
              <a:t>35% → 5%</a:t>
            </a:r>
            <a:endParaRPr lang="en-US" sz="1397" dirty="0"/>
          </a:p>
        </p:txBody>
      </p:sp>
      <p:sp>
        <p:nvSpPr>
          <p:cNvPr id="41" name="Text 38"/>
          <p:cNvSpPr/>
          <p:nvPr/>
        </p:nvSpPr>
        <p:spPr>
          <a:xfrm>
            <a:off x="571500" y="4850606"/>
            <a:ext cx="3786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Redução de abandono de candidatos</a:t>
            </a:r>
            <a:endParaRPr lang="en-US" sz="727" dirty="0"/>
          </a:p>
        </p:txBody>
      </p:sp>
      <p:sp>
        <p:nvSpPr>
          <p:cNvPr id="42" name="Shape 39"/>
          <p:cNvSpPr/>
          <p:nvPr/>
        </p:nvSpPr>
        <p:spPr>
          <a:xfrm>
            <a:off x="4643438" y="4371975"/>
            <a:ext cx="4071938" cy="771525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3" name="Shape 40"/>
          <p:cNvSpPr/>
          <p:nvPr/>
        </p:nvSpPr>
        <p:spPr>
          <a:xfrm>
            <a:off x="4643438" y="4371975"/>
            <a:ext cx="28575" cy="7715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4" name="Text 41"/>
          <p:cNvSpPr/>
          <p:nvPr/>
        </p:nvSpPr>
        <p:spPr>
          <a:xfrm>
            <a:off x="4786313" y="4514850"/>
            <a:ext cx="3786188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563EB"/>
                </a:solidFill>
              </a:rPr>
              <a:t>20 → 100+</a:t>
            </a:r>
            <a:endParaRPr lang="en-US" sz="1397" dirty="0"/>
          </a:p>
        </p:txBody>
      </p:sp>
      <p:sp>
        <p:nvSpPr>
          <p:cNvPr id="45" name="Text 42"/>
          <p:cNvSpPr/>
          <p:nvPr/>
        </p:nvSpPr>
        <p:spPr>
          <a:xfrm>
            <a:off x="4786313" y="4850606"/>
            <a:ext cx="3786188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Vagas/mês que conseguimos gerenciar</a:t>
            </a:r>
            <a:endParaRPr lang="en-US" sz="727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F2937"/>
                </a:solidFill>
              </a:rPr>
              <a:t>3 Camadas Tecnológicas da Solução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945611"/>
            <a:ext cx="261938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563EB"/>
                </a:solidFill>
              </a:rPr>
              <a:t>1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2531399"/>
            <a:ext cx="26193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Agentes de IA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428625" y="2852868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Extração de dados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428625" y="3090035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Triagem automática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428625" y="3327202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Análise de candidatos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428625" y="3564368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Agendamento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428625" y="3851542"/>
            <a:ext cx="2619384" cy="26074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2626"/>
                </a:solidFill>
              </a:rPr>
              <a:t>Build vs. Buy?</a:t>
            </a:r>
            <a:endParaRPr lang="en-US" sz="634" dirty="0"/>
          </a:p>
        </p:txBody>
      </p:sp>
      <p:sp>
        <p:nvSpPr>
          <p:cNvPr id="11" name="Text 8"/>
          <p:cNvSpPr/>
          <p:nvPr/>
        </p:nvSpPr>
        <p:spPr>
          <a:xfrm>
            <a:off x="3262322" y="1945611"/>
            <a:ext cx="261938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563EB"/>
                </a:solidFill>
              </a:rPr>
              <a:t>2</a:t>
            </a:r>
            <a:endParaRPr lang="en-US" sz="2436" dirty="0"/>
          </a:p>
        </p:txBody>
      </p:sp>
      <p:sp>
        <p:nvSpPr>
          <p:cNvPr id="12" name="Text 9"/>
          <p:cNvSpPr/>
          <p:nvPr/>
        </p:nvSpPr>
        <p:spPr>
          <a:xfrm>
            <a:off x="3262322" y="2531399"/>
            <a:ext cx="26193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Infraestrutura</a:t>
            </a:r>
            <a:endParaRPr lang="en-US" sz="987" dirty="0"/>
          </a:p>
        </p:txBody>
      </p:sp>
      <p:sp>
        <p:nvSpPr>
          <p:cNvPr id="13" name="Text 10"/>
          <p:cNvSpPr/>
          <p:nvPr/>
        </p:nvSpPr>
        <p:spPr>
          <a:xfrm>
            <a:off x="3262322" y="2852868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Computação</a:t>
            </a:r>
            <a:endParaRPr lang="en-US" sz="727" dirty="0"/>
          </a:p>
        </p:txBody>
      </p:sp>
      <p:sp>
        <p:nvSpPr>
          <p:cNvPr id="14" name="Text 11"/>
          <p:cNvSpPr/>
          <p:nvPr/>
        </p:nvSpPr>
        <p:spPr>
          <a:xfrm>
            <a:off x="3262322" y="3090035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Banco de dados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3262322" y="3327202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Cache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3262322" y="3564368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Monitoramento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3262322" y="3851542"/>
            <a:ext cx="2619384" cy="26074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2626"/>
                </a:solidFill>
              </a:rPr>
              <a:t>Plataforma vs. GCP?</a:t>
            </a:r>
            <a:endParaRPr lang="en-US" sz="634" dirty="0"/>
          </a:p>
        </p:txBody>
      </p:sp>
      <p:sp>
        <p:nvSpPr>
          <p:cNvPr id="18" name="Text 15"/>
          <p:cNvSpPr/>
          <p:nvPr/>
        </p:nvSpPr>
        <p:spPr>
          <a:xfrm>
            <a:off x="6096019" y="1945611"/>
            <a:ext cx="2619384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100"/>
              </a:lnSpc>
              <a:buNone/>
            </a:pPr>
            <a:r>
              <a:rPr lang="en-US" sz="2436" b="1" dirty="0">
                <a:solidFill>
                  <a:srgbClr val="2563EB"/>
                </a:solidFill>
              </a:rPr>
              <a:t>3</a:t>
            </a:r>
            <a:endParaRPr lang="en-US" sz="2436" dirty="0"/>
          </a:p>
        </p:txBody>
      </p:sp>
      <p:sp>
        <p:nvSpPr>
          <p:cNvPr id="19" name="Text 16"/>
          <p:cNvSpPr/>
          <p:nvPr/>
        </p:nvSpPr>
        <p:spPr>
          <a:xfrm>
            <a:off x="6096019" y="2531399"/>
            <a:ext cx="2619384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1F2937"/>
                </a:solidFill>
              </a:rPr>
              <a:t>Voice AI</a:t>
            </a:r>
            <a:endParaRPr lang="en-US" sz="987" dirty="0"/>
          </a:p>
        </p:txBody>
      </p:sp>
      <p:sp>
        <p:nvSpPr>
          <p:cNvPr id="20" name="Text 17"/>
          <p:cNvSpPr/>
          <p:nvPr/>
        </p:nvSpPr>
        <p:spPr>
          <a:xfrm>
            <a:off x="6096019" y="2852868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Triagem por voz</a:t>
            </a:r>
            <a:endParaRPr lang="en-US" sz="727" dirty="0"/>
          </a:p>
        </p:txBody>
      </p:sp>
      <p:sp>
        <p:nvSpPr>
          <p:cNvPr id="21" name="Text 18"/>
          <p:cNvSpPr/>
          <p:nvPr/>
        </p:nvSpPr>
        <p:spPr>
          <a:xfrm>
            <a:off x="6096019" y="3090035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Entrevistas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6096019" y="3327202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Feedback automático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6096019" y="3564368"/>
            <a:ext cx="261938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Integração WhatsApp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096019" y="3851542"/>
            <a:ext cx="2619384" cy="260747"/>
          </a:xfrm>
          <a:prstGeom prst="rect">
            <a:avLst/>
          </a:prstGeom>
          <a:noFill/>
          <a:ln/>
        </p:spPr>
        <p:txBody>
          <a:bodyPr wrap="square" lIns="0" tIns="127508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634" b="1" dirty="0">
                <a:solidFill>
                  <a:srgbClr val="DC2626"/>
                </a:solidFill>
              </a:rPr>
              <a:t>Qual plataforma?</a:t>
            </a:r>
            <a:endParaRPr lang="en-US" sz="634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F2937"/>
                </a:solidFill>
              </a:rPr>
              <a:t>Agentes de IA: Build vs. Buy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285750" y="842963"/>
            <a:ext cx="3479034" cy="328613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1157288"/>
            <a:ext cx="3479034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842963"/>
            <a:ext cx="3479034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Métrica</a:t>
            </a:r>
            <a:endParaRPr lang="en-US" sz="683" dirty="0"/>
          </a:p>
        </p:txBody>
      </p:sp>
      <p:sp>
        <p:nvSpPr>
          <p:cNvPr id="7" name="Shape 4"/>
          <p:cNvSpPr/>
          <p:nvPr/>
        </p:nvSpPr>
        <p:spPr>
          <a:xfrm>
            <a:off x="3764784" y="842963"/>
            <a:ext cx="1968019" cy="328613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Shape 5"/>
          <p:cNvSpPr/>
          <p:nvPr/>
        </p:nvSpPr>
        <p:spPr>
          <a:xfrm>
            <a:off x="3764784" y="1157288"/>
            <a:ext cx="1968019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9" name="Text 6"/>
          <p:cNvSpPr/>
          <p:nvPr/>
        </p:nvSpPr>
        <p:spPr>
          <a:xfrm>
            <a:off x="3764784" y="842963"/>
            <a:ext cx="196801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Build Próprio</a:t>
            </a:r>
            <a:endParaRPr lang="en-US" sz="683" dirty="0"/>
          </a:p>
        </p:txBody>
      </p:sp>
      <p:sp>
        <p:nvSpPr>
          <p:cNvPr id="10" name="Shape 7"/>
          <p:cNvSpPr/>
          <p:nvPr/>
        </p:nvSpPr>
        <p:spPr>
          <a:xfrm>
            <a:off x="5732804" y="842963"/>
            <a:ext cx="1763864" cy="328613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8"/>
          <p:cNvSpPr/>
          <p:nvPr/>
        </p:nvSpPr>
        <p:spPr>
          <a:xfrm>
            <a:off x="5732804" y="1157288"/>
            <a:ext cx="1763864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Text 9"/>
          <p:cNvSpPr/>
          <p:nvPr/>
        </p:nvSpPr>
        <p:spPr>
          <a:xfrm>
            <a:off x="5732804" y="842963"/>
            <a:ext cx="1763864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Beam AI</a:t>
            </a:r>
            <a:endParaRPr lang="en-US" sz="683" dirty="0"/>
          </a:p>
        </p:txBody>
      </p:sp>
      <p:sp>
        <p:nvSpPr>
          <p:cNvPr id="13" name="Shape 10"/>
          <p:cNvSpPr/>
          <p:nvPr/>
        </p:nvSpPr>
        <p:spPr>
          <a:xfrm>
            <a:off x="7496668" y="842963"/>
            <a:ext cx="1933082" cy="328613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11"/>
          <p:cNvSpPr/>
          <p:nvPr/>
        </p:nvSpPr>
        <p:spPr>
          <a:xfrm>
            <a:off x="7496668" y="1157288"/>
            <a:ext cx="1933082" cy="14288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5" name="Text 12"/>
          <p:cNvSpPr/>
          <p:nvPr/>
        </p:nvSpPr>
        <p:spPr>
          <a:xfrm>
            <a:off x="7496668" y="842963"/>
            <a:ext cx="1933082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F2937"/>
                </a:solidFill>
              </a:rPr>
              <a:t>Relevance AI</a:t>
            </a:r>
            <a:endParaRPr lang="en-US" sz="683" dirty="0"/>
          </a:p>
        </p:txBody>
      </p:sp>
      <p:sp>
        <p:nvSpPr>
          <p:cNvPr id="16" name="Text 13"/>
          <p:cNvSpPr/>
          <p:nvPr/>
        </p:nvSpPr>
        <p:spPr>
          <a:xfrm>
            <a:off x="371475" y="1257300"/>
            <a:ext cx="122267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Investimento (36 meses)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3764784" y="1164431"/>
            <a:ext cx="1968019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C2626"/>
                </a:solidFill>
              </a:rPr>
              <a:t>R$ 3.175K</a:t>
            </a:r>
            <a:endParaRPr lang="en-US" sz="683" dirty="0"/>
          </a:p>
        </p:txBody>
      </p:sp>
      <p:sp>
        <p:nvSpPr>
          <p:cNvPr id="18" name="Text 15"/>
          <p:cNvSpPr/>
          <p:nvPr/>
        </p:nvSpPr>
        <p:spPr>
          <a:xfrm>
            <a:off x="5732804" y="1164431"/>
            <a:ext cx="1763864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R$ 1.735K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7496668" y="1164431"/>
            <a:ext cx="1933082" cy="325041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R$ 2.175K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371475" y="1585913"/>
            <a:ext cx="12893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Custo/Cliente/Ano (Ano 3)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3764784" y="1489472"/>
            <a:ext cx="196801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C2626"/>
                </a:solidFill>
              </a:rPr>
              <a:t>R$ 1.393/mês</a:t>
            </a:r>
            <a:endParaRPr lang="en-US" sz="683" dirty="0"/>
          </a:p>
        </p:txBody>
      </p:sp>
      <p:sp>
        <p:nvSpPr>
          <p:cNvPr id="22" name="Text 19"/>
          <p:cNvSpPr/>
          <p:nvPr/>
        </p:nvSpPr>
        <p:spPr>
          <a:xfrm>
            <a:off x="5732804" y="1489472"/>
            <a:ext cx="1763864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R$ 586/mês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7496668" y="1489472"/>
            <a:ext cx="1933082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R$ 802/mês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371475" y="1914525"/>
            <a:ext cx="7934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Margem (Ano 3)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3764784" y="1818084"/>
            <a:ext cx="196801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87%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5732804" y="1818084"/>
            <a:ext cx="1763864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85%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7496668" y="1818084"/>
            <a:ext cx="1933082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82%</a:t>
            </a:r>
            <a:endParaRPr lang="en-US" sz="727" dirty="0"/>
          </a:p>
        </p:txBody>
      </p:sp>
      <p:sp>
        <p:nvSpPr>
          <p:cNvPr id="28" name="Text 25"/>
          <p:cNvSpPr/>
          <p:nvPr/>
        </p:nvSpPr>
        <p:spPr>
          <a:xfrm>
            <a:off x="371475" y="2243138"/>
            <a:ext cx="91102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Equipe Necessária</a:t>
            </a:r>
            <a:endParaRPr lang="en-US" sz="683" dirty="0"/>
          </a:p>
        </p:txBody>
      </p:sp>
      <p:sp>
        <p:nvSpPr>
          <p:cNvPr id="29" name="Text 26"/>
          <p:cNvSpPr/>
          <p:nvPr/>
        </p:nvSpPr>
        <p:spPr>
          <a:xfrm>
            <a:off x="3764784" y="2146697"/>
            <a:ext cx="196801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C2626"/>
                </a:solidFill>
              </a:rPr>
              <a:t>8 pessoas</a:t>
            </a:r>
            <a:endParaRPr lang="en-US" sz="683" dirty="0"/>
          </a:p>
        </p:txBody>
      </p:sp>
      <p:sp>
        <p:nvSpPr>
          <p:cNvPr id="30" name="Text 27"/>
          <p:cNvSpPr/>
          <p:nvPr/>
        </p:nvSpPr>
        <p:spPr>
          <a:xfrm>
            <a:off x="5732804" y="2146697"/>
            <a:ext cx="1763864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2 pessoas</a:t>
            </a:r>
            <a:endParaRPr lang="en-US" sz="683" dirty="0"/>
          </a:p>
        </p:txBody>
      </p:sp>
      <p:sp>
        <p:nvSpPr>
          <p:cNvPr id="31" name="Text 28"/>
          <p:cNvSpPr/>
          <p:nvPr/>
        </p:nvSpPr>
        <p:spPr>
          <a:xfrm>
            <a:off x="7496668" y="2146697"/>
            <a:ext cx="1933082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2 pessoas</a:t>
            </a:r>
            <a:endParaRPr lang="en-US" sz="683" dirty="0"/>
          </a:p>
        </p:txBody>
      </p:sp>
      <p:sp>
        <p:nvSpPr>
          <p:cNvPr id="32" name="Text 29"/>
          <p:cNvSpPr/>
          <p:nvPr/>
        </p:nvSpPr>
        <p:spPr>
          <a:xfrm>
            <a:off x="371475" y="2571750"/>
            <a:ext cx="108035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Timeline Lançamento</a:t>
            </a:r>
            <a:endParaRPr lang="en-US" sz="683" dirty="0"/>
          </a:p>
        </p:txBody>
      </p:sp>
      <p:sp>
        <p:nvSpPr>
          <p:cNvPr id="33" name="Text 30"/>
          <p:cNvSpPr/>
          <p:nvPr/>
        </p:nvSpPr>
        <p:spPr>
          <a:xfrm>
            <a:off x="3764784" y="2475309"/>
            <a:ext cx="196801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DC2626"/>
                </a:solidFill>
              </a:rPr>
              <a:t>12 semanas</a:t>
            </a:r>
            <a:endParaRPr lang="en-US" sz="683" dirty="0"/>
          </a:p>
        </p:txBody>
      </p:sp>
      <p:sp>
        <p:nvSpPr>
          <p:cNvPr id="34" name="Text 31"/>
          <p:cNvSpPr/>
          <p:nvPr/>
        </p:nvSpPr>
        <p:spPr>
          <a:xfrm>
            <a:off x="5732804" y="2475309"/>
            <a:ext cx="1763864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2 semanas</a:t>
            </a:r>
            <a:endParaRPr lang="en-US" sz="683" dirty="0"/>
          </a:p>
        </p:txBody>
      </p:sp>
      <p:sp>
        <p:nvSpPr>
          <p:cNvPr id="35" name="Text 32"/>
          <p:cNvSpPr/>
          <p:nvPr/>
        </p:nvSpPr>
        <p:spPr>
          <a:xfrm>
            <a:off x="7496668" y="2475309"/>
            <a:ext cx="1933082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3 semanas</a:t>
            </a:r>
            <a:endParaRPr lang="en-US" sz="683" dirty="0"/>
          </a:p>
        </p:txBody>
      </p:sp>
      <p:sp>
        <p:nvSpPr>
          <p:cNvPr id="36" name="Text 33"/>
          <p:cNvSpPr/>
          <p:nvPr/>
        </p:nvSpPr>
        <p:spPr>
          <a:xfrm>
            <a:off x="371475" y="2900363"/>
            <a:ext cx="82661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Controle Técnico</a:t>
            </a:r>
            <a:endParaRPr lang="en-US" sz="683" dirty="0"/>
          </a:p>
        </p:txBody>
      </p:sp>
      <p:sp>
        <p:nvSpPr>
          <p:cNvPr id="37" name="Text 34"/>
          <p:cNvSpPr/>
          <p:nvPr/>
        </p:nvSpPr>
        <p:spPr>
          <a:xfrm>
            <a:off x="3764784" y="2803922"/>
            <a:ext cx="196801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100%</a:t>
            </a:r>
            <a:endParaRPr lang="en-US" sz="683" dirty="0"/>
          </a:p>
        </p:txBody>
      </p:sp>
      <p:sp>
        <p:nvSpPr>
          <p:cNvPr id="38" name="Text 35"/>
          <p:cNvSpPr/>
          <p:nvPr/>
        </p:nvSpPr>
        <p:spPr>
          <a:xfrm>
            <a:off x="5732804" y="2803922"/>
            <a:ext cx="1763864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20%</a:t>
            </a:r>
            <a:endParaRPr lang="en-US" sz="727" dirty="0"/>
          </a:p>
        </p:txBody>
      </p:sp>
      <p:sp>
        <p:nvSpPr>
          <p:cNvPr id="39" name="Text 36"/>
          <p:cNvSpPr/>
          <p:nvPr/>
        </p:nvSpPr>
        <p:spPr>
          <a:xfrm>
            <a:off x="7496668" y="2803922"/>
            <a:ext cx="1933082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30%</a:t>
            </a:r>
            <a:endParaRPr lang="en-US" sz="727" dirty="0"/>
          </a:p>
        </p:txBody>
      </p:sp>
      <p:sp>
        <p:nvSpPr>
          <p:cNvPr id="40" name="Text 37"/>
          <p:cNvSpPr/>
          <p:nvPr/>
        </p:nvSpPr>
        <p:spPr>
          <a:xfrm>
            <a:off x="371475" y="3228975"/>
            <a:ext cx="63180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374151"/>
                </a:solidFill>
              </a:rPr>
              <a:t>Flexibilidade</a:t>
            </a:r>
            <a:endParaRPr lang="en-US" sz="683" dirty="0"/>
          </a:p>
        </p:txBody>
      </p:sp>
      <p:sp>
        <p:nvSpPr>
          <p:cNvPr id="41" name="Text 38"/>
          <p:cNvSpPr/>
          <p:nvPr/>
        </p:nvSpPr>
        <p:spPr>
          <a:xfrm>
            <a:off x="3764784" y="3132534"/>
            <a:ext cx="1968019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83" b="1" dirty="0">
                <a:solidFill>
                  <a:srgbClr val="10B981"/>
                </a:solidFill>
              </a:rPr>
              <a:t>Máxima</a:t>
            </a:r>
            <a:endParaRPr lang="en-US" sz="683" dirty="0"/>
          </a:p>
        </p:txBody>
      </p:sp>
      <p:sp>
        <p:nvSpPr>
          <p:cNvPr id="42" name="Text 39"/>
          <p:cNvSpPr/>
          <p:nvPr/>
        </p:nvSpPr>
        <p:spPr>
          <a:xfrm>
            <a:off x="5732804" y="3132534"/>
            <a:ext cx="1763864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Limitada</a:t>
            </a:r>
            <a:endParaRPr lang="en-US" sz="727" dirty="0"/>
          </a:p>
        </p:txBody>
      </p:sp>
      <p:sp>
        <p:nvSpPr>
          <p:cNvPr id="43" name="Text 40"/>
          <p:cNvSpPr/>
          <p:nvPr/>
        </p:nvSpPr>
        <p:spPr>
          <a:xfrm>
            <a:off x="7496668" y="3132534"/>
            <a:ext cx="1933082" cy="328613"/>
          </a:xfrm>
          <a:prstGeom prst="rect">
            <a:avLst/>
          </a:prstGeom>
          <a:noFill/>
          <a:ln/>
        </p:spPr>
        <p:txBody>
          <a:bodyPr wrap="square" lIns="102108" tIns="102108" rIns="102108" bIns="102108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Limitada</a:t>
            </a:r>
            <a:endParaRPr lang="en-US" sz="727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F2937"/>
                </a:solidFill>
              </a:rPr>
              <a:t>Recomendação Estratégica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285750" y="842963"/>
            <a:ext cx="8572500" cy="111869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842963"/>
            <a:ext cx="28575" cy="111869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3"/>
          <p:cNvSpPr/>
          <p:nvPr/>
        </p:nvSpPr>
        <p:spPr>
          <a:xfrm>
            <a:off x="500063" y="1057275"/>
            <a:ext cx="814387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0B981"/>
                </a:solidFill>
              </a:rPr>
              <a:t>✅ Use BEAM AI no Ano 1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00063" y="1421606"/>
            <a:ext cx="8143875" cy="1828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Comece com Beam AI + Synthflow para validação rápida e custo mínimo. Migre para agentes próprios no Ano 2 quando tiver escala e equipe validada.</a:t>
            </a:r>
            <a:endParaRPr lang="en-US" sz="834" dirty="0"/>
          </a:p>
        </p:txBody>
      </p:sp>
      <p:sp>
        <p:nvSpPr>
          <p:cNvPr id="8" name="Shape 5"/>
          <p:cNvSpPr/>
          <p:nvPr/>
        </p:nvSpPr>
        <p:spPr>
          <a:xfrm>
            <a:off x="285750" y="2461720"/>
            <a:ext cx="2762231" cy="64293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9" name="Text 6"/>
          <p:cNvSpPr/>
          <p:nvPr/>
        </p:nvSpPr>
        <p:spPr>
          <a:xfrm>
            <a:off x="428625" y="2604595"/>
            <a:ext cx="24764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45% Mais Barato</a:t>
            </a:r>
            <a:endParaRPr lang="en-US" sz="734" dirty="0"/>
          </a:p>
        </p:txBody>
      </p:sp>
      <p:sp>
        <p:nvSpPr>
          <p:cNvPr id="10" name="Text 7"/>
          <p:cNvSpPr/>
          <p:nvPr/>
        </p:nvSpPr>
        <p:spPr>
          <a:xfrm>
            <a:off x="428625" y="2822479"/>
            <a:ext cx="24764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R$ 1.735K vs. R$ 3.175K (Build próprio em 36 meses)</a:t>
            </a:r>
            <a:endParaRPr lang="en-US" sz="674" dirty="0"/>
          </a:p>
        </p:txBody>
      </p:sp>
      <p:sp>
        <p:nvSpPr>
          <p:cNvPr id="11" name="Shape 8"/>
          <p:cNvSpPr/>
          <p:nvPr/>
        </p:nvSpPr>
        <p:spPr>
          <a:xfrm>
            <a:off x="3190856" y="2461720"/>
            <a:ext cx="2762259" cy="64293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9"/>
          <p:cNvSpPr/>
          <p:nvPr/>
        </p:nvSpPr>
        <p:spPr>
          <a:xfrm>
            <a:off x="3333731" y="2604595"/>
            <a:ext cx="247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10x Mais Rápido</a:t>
            </a:r>
            <a:endParaRPr lang="en-US" sz="734" dirty="0"/>
          </a:p>
        </p:txBody>
      </p:sp>
      <p:sp>
        <p:nvSpPr>
          <p:cNvPr id="13" name="Text 10"/>
          <p:cNvSpPr/>
          <p:nvPr/>
        </p:nvSpPr>
        <p:spPr>
          <a:xfrm>
            <a:off x="3333731" y="2822479"/>
            <a:ext cx="2476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2 semanas vs. 12 semanas para lançamento</a:t>
            </a:r>
            <a:endParaRPr lang="en-US" sz="674" dirty="0"/>
          </a:p>
        </p:txBody>
      </p:sp>
      <p:sp>
        <p:nvSpPr>
          <p:cNvPr id="14" name="Shape 11"/>
          <p:cNvSpPr/>
          <p:nvPr/>
        </p:nvSpPr>
        <p:spPr>
          <a:xfrm>
            <a:off x="6095991" y="2461720"/>
            <a:ext cx="2762231" cy="64293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2"/>
          <p:cNvSpPr/>
          <p:nvPr/>
        </p:nvSpPr>
        <p:spPr>
          <a:xfrm>
            <a:off x="6238866" y="2604595"/>
            <a:ext cx="24764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Equipe 4x Menor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6238866" y="2822479"/>
            <a:ext cx="24764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2 pessoas vs. 8 pessoas necessárias</a:t>
            </a:r>
            <a:endParaRPr lang="en-US" sz="674" dirty="0"/>
          </a:p>
        </p:txBody>
      </p:sp>
      <p:sp>
        <p:nvSpPr>
          <p:cNvPr id="17" name="Shape 14"/>
          <p:cNvSpPr/>
          <p:nvPr/>
        </p:nvSpPr>
        <p:spPr>
          <a:xfrm>
            <a:off x="285750" y="3247532"/>
            <a:ext cx="2762231" cy="78224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5"/>
          <p:cNvSpPr/>
          <p:nvPr/>
        </p:nvSpPr>
        <p:spPr>
          <a:xfrm>
            <a:off x="428625" y="3390407"/>
            <a:ext cx="24764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Zero Overhead Ops</a:t>
            </a:r>
            <a:endParaRPr lang="en-US" sz="734" dirty="0"/>
          </a:p>
        </p:txBody>
      </p:sp>
      <p:sp>
        <p:nvSpPr>
          <p:cNvPr id="19" name="Text 16"/>
          <p:cNvSpPr/>
          <p:nvPr/>
        </p:nvSpPr>
        <p:spPr>
          <a:xfrm>
            <a:off x="428625" y="3608291"/>
            <a:ext cx="2476481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Beam cuida de infraestrutura, segurança e escalabilidade</a:t>
            </a:r>
            <a:endParaRPr lang="en-US" sz="674" dirty="0"/>
          </a:p>
        </p:txBody>
      </p:sp>
      <p:sp>
        <p:nvSpPr>
          <p:cNvPr id="20" name="Shape 17"/>
          <p:cNvSpPr/>
          <p:nvPr/>
        </p:nvSpPr>
        <p:spPr>
          <a:xfrm>
            <a:off x="3190856" y="3247532"/>
            <a:ext cx="2762259" cy="78224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8"/>
          <p:cNvSpPr/>
          <p:nvPr/>
        </p:nvSpPr>
        <p:spPr>
          <a:xfrm>
            <a:off x="3333731" y="3390407"/>
            <a:ext cx="2476509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Foco em Produto</a:t>
            </a:r>
            <a:endParaRPr lang="en-US" sz="734" dirty="0"/>
          </a:p>
        </p:txBody>
      </p:sp>
      <p:sp>
        <p:nvSpPr>
          <p:cNvPr id="22" name="Text 19"/>
          <p:cNvSpPr/>
          <p:nvPr/>
        </p:nvSpPr>
        <p:spPr>
          <a:xfrm>
            <a:off x="3333731" y="3608291"/>
            <a:ext cx="2476509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Equipe dedica 100% a produto e vendas, não infra</a:t>
            </a:r>
            <a:endParaRPr lang="en-US" sz="674" dirty="0"/>
          </a:p>
        </p:txBody>
      </p:sp>
      <p:sp>
        <p:nvSpPr>
          <p:cNvPr id="23" name="Shape 20"/>
          <p:cNvSpPr/>
          <p:nvPr/>
        </p:nvSpPr>
        <p:spPr>
          <a:xfrm>
            <a:off x="6095991" y="3247532"/>
            <a:ext cx="2762231" cy="782241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4" name="Text 21"/>
          <p:cNvSpPr/>
          <p:nvPr/>
        </p:nvSpPr>
        <p:spPr>
          <a:xfrm>
            <a:off x="6238866" y="3390407"/>
            <a:ext cx="2476481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Sem Lock-in</a:t>
            </a:r>
            <a:endParaRPr lang="en-US" sz="734" dirty="0"/>
          </a:p>
        </p:txBody>
      </p:sp>
      <p:sp>
        <p:nvSpPr>
          <p:cNvPr id="25" name="Text 22"/>
          <p:cNvSpPr/>
          <p:nvPr/>
        </p:nvSpPr>
        <p:spPr>
          <a:xfrm>
            <a:off x="6238866" y="3608291"/>
            <a:ext cx="2476481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74" dirty="0">
                <a:solidFill>
                  <a:srgbClr val="6B7280"/>
                </a:solidFill>
              </a:rPr>
              <a:t>Fácil migrar para agentes próprios depois</a:t>
            </a:r>
            <a:endParaRPr lang="en-US" sz="67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F2937"/>
                </a:solidFill>
              </a:rPr>
              <a:t>Roadmap Estratégico de 3 Anos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285750" y="914400"/>
            <a:ext cx="2762259" cy="42291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Shape 2"/>
          <p:cNvSpPr/>
          <p:nvPr/>
        </p:nvSpPr>
        <p:spPr>
          <a:xfrm>
            <a:off x="285750" y="914400"/>
            <a:ext cx="2762259" cy="33575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3"/>
          <p:cNvSpPr/>
          <p:nvPr/>
        </p:nvSpPr>
        <p:spPr>
          <a:xfrm>
            <a:off x="285750" y="914400"/>
            <a:ext cx="2762259" cy="33575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Ano 1: Validação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428625" y="1357313"/>
            <a:ext cx="2476509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B7280"/>
                </a:solidFill>
              </a:rPr>
              <a:t>TECNOLOGIAS</a:t>
            </a:r>
            <a:endParaRPr lang="en-US" sz="584" dirty="0"/>
          </a:p>
        </p:txBody>
      </p:sp>
      <p:sp>
        <p:nvSpPr>
          <p:cNvPr id="8" name="Text 5"/>
          <p:cNvSpPr/>
          <p:nvPr/>
        </p:nvSpPr>
        <p:spPr>
          <a:xfrm>
            <a:off x="428625" y="1530186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Beam AI (agentes)</a:t>
            </a:r>
            <a:endParaRPr lang="en-US" sz="674" dirty="0"/>
          </a:p>
        </p:txBody>
      </p:sp>
      <p:sp>
        <p:nvSpPr>
          <p:cNvPr id="9" name="Text 6"/>
          <p:cNvSpPr/>
          <p:nvPr/>
        </p:nvSpPr>
        <p:spPr>
          <a:xfrm>
            <a:off x="428625" y="1707328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Synthflow (voice)</a:t>
            </a:r>
            <a:endParaRPr lang="en-US" sz="674" dirty="0"/>
          </a:p>
        </p:txBody>
      </p:sp>
      <p:sp>
        <p:nvSpPr>
          <p:cNvPr id="10" name="Text 7"/>
          <p:cNvSpPr/>
          <p:nvPr/>
        </p:nvSpPr>
        <p:spPr>
          <a:xfrm>
            <a:off x="428625" y="1941621"/>
            <a:ext cx="2476509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B7280"/>
                </a:solidFill>
              </a:rPr>
              <a:t>OBJETIVO</a:t>
            </a:r>
            <a:endParaRPr lang="en-US" sz="584" dirty="0"/>
          </a:p>
        </p:txBody>
      </p:sp>
      <p:sp>
        <p:nvSpPr>
          <p:cNvPr id="11" name="Text 8"/>
          <p:cNvSpPr/>
          <p:nvPr/>
        </p:nvSpPr>
        <p:spPr>
          <a:xfrm>
            <a:off x="428625" y="2114494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10 clientes</a:t>
            </a:r>
            <a:endParaRPr lang="en-US" sz="674" dirty="0"/>
          </a:p>
        </p:txBody>
      </p:sp>
      <p:sp>
        <p:nvSpPr>
          <p:cNvPr id="12" name="Text 9"/>
          <p:cNvSpPr/>
          <p:nvPr/>
        </p:nvSpPr>
        <p:spPr>
          <a:xfrm>
            <a:off x="428625" y="2291637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Modelo validado</a:t>
            </a:r>
            <a:endParaRPr lang="en-US" sz="674" dirty="0"/>
          </a:p>
        </p:txBody>
      </p:sp>
      <p:sp>
        <p:nvSpPr>
          <p:cNvPr id="13" name="Text 10"/>
          <p:cNvSpPr/>
          <p:nvPr/>
        </p:nvSpPr>
        <p:spPr>
          <a:xfrm>
            <a:off x="428625" y="2468780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Product-market fit</a:t>
            </a:r>
            <a:endParaRPr lang="en-US" sz="674" dirty="0"/>
          </a:p>
        </p:txBody>
      </p:sp>
      <p:sp>
        <p:nvSpPr>
          <p:cNvPr id="14" name="Text 11"/>
          <p:cNvSpPr/>
          <p:nvPr/>
        </p:nvSpPr>
        <p:spPr>
          <a:xfrm>
            <a:off x="428625" y="2838803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Investimento</a:t>
            </a:r>
            <a:endParaRPr lang="en-US" sz="534" dirty="0"/>
          </a:p>
        </p:txBody>
      </p:sp>
      <p:sp>
        <p:nvSpPr>
          <p:cNvPr id="15" name="Text 12"/>
          <p:cNvSpPr/>
          <p:nvPr/>
        </p:nvSpPr>
        <p:spPr>
          <a:xfrm>
            <a:off x="428625" y="2985948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R$ 473K</a:t>
            </a:r>
            <a:endParaRPr lang="en-US" sz="734" dirty="0"/>
          </a:p>
        </p:txBody>
      </p:sp>
      <p:sp>
        <p:nvSpPr>
          <p:cNvPr id="16" name="Text 13"/>
          <p:cNvSpPr/>
          <p:nvPr/>
        </p:nvSpPr>
        <p:spPr>
          <a:xfrm>
            <a:off x="428625" y="3214548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Receita</a:t>
            </a:r>
            <a:endParaRPr lang="en-US" sz="534" dirty="0"/>
          </a:p>
        </p:txBody>
      </p:sp>
      <p:sp>
        <p:nvSpPr>
          <p:cNvPr id="17" name="Text 14"/>
          <p:cNvSpPr/>
          <p:nvPr/>
        </p:nvSpPr>
        <p:spPr>
          <a:xfrm>
            <a:off x="428625" y="3361692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R$ 960K</a:t>
            </a:r>
            <a:endParaRPr lang="en-US" sz="734" dirty="0"/>
          </a:p>
        </p:txBody>
      </p:sp>
      <p:sp>
        <p:nvSpPr>
          <p:cNvPr id="18" name="Text 15"/>
          <p:cNvSpPr/>
          <p:nvPr/>
        </p:nvSpPr>
        <p:spPr>
          <a:xfrm>
            <a:off x="428625" y="3590292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Payback</a:t>
            </a:r>
            <a:endParaRPr lang="en-US" sz="534" dirty="0"/>
          </a:p>
        </p:txBody>
      </p:sp>
      <p:sp>
        <p:nvSpPr>
          <p:cNvPr id="19" name="Text 16"/>
          <p:cNvSpPr/>
          <p:nvPr/>
        </p:nvSpPr>
        <p:spPr>
          <a:xfrm>
            <a:off x="428625" y="3737437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2 meses</a:t>
            </a:r>
            <a:endParaRPr lang="en-US" sz="734" dirty="0"/>
          </a:p>
        </p:txBody>
      </p:sp>
      <p:sp>
        <p:nvSpPr>
          <p:cNvPr id="20" name="Shape 17"/>
          <p:cNvSpPr/>
          <p:nvPr/>
        </p:nvSpPr>
        <p:spPr>
          <a:xfrm>
            <a:off x="3190884" y="914400"/>
            <a:ext cx="2762259" cy="42291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Shape 18"/>
          <p:cNvSpPr/>
          <p:nvPr/>
        </p:nvSpPr>
        <p:spPr>
          <a:xfrm>
            <a:off x="3190884" y="914400"/>
            <a:ext cx="2762259" cy="33575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3190884" y="914400"/>
            <a:ext cx="2762259" cy="33575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Ano 2: Crescimento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3333759" y="1357313"/>
            <a:ext cx="2476509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B7280"/>
                </a:solidFill>
              </a:rPr>
              <a:t>TECNOLOGIAS</a:t>
            </a:r>
            <a:endParaRPr lang="en-US" sz="584" dirty="0"/>
          </a:p>
        </p:txBody>
      </p:sp>
      <p:sp>
        <p:nvSpPr>
          <p:cNvPr id="24" name="Text 21"/>
          <p:cNvSpPr/>
          <p:nvPr/>
        </p:nvSpPr>
        <p:spPr>
          <a:xfrm>
            <a:off x="3333759" y="1530186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Beam AI (principal)</a:t>
            </a:r>
            <a:endParaRPr lang="en-US" sz="674" dirty="0"/>
          </a:p>
        </p:txBody>
      </p:sp>
      <p:sp>
        <p:nvSpPr>
          <p:cNvPr id="25" name="Text 22"/>
          <p:cNvSpPr/>
          <p:nvPr/>
        </p:nvSpPr>
        <p:spPr>
          <a:xfrm>
            <a:off x="3333759" y="1707328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Dev próprio (paralelo)</a:t>
            </a:r>
            <a:endParaRPr lang="en-US" sz="674" dirty="0"/>
          </a:p>
        </p:txBody>
      </p:sp>
      <p:sp>
        <p:nvSpPr>
          <p:cNvPr id="26" name="Text 23"/>
          <p:cNvSpPr/>
          <p:nvPr/>
        </p:nvSpPr>
        <p:spPr>
          <a:xfrm>
            <a:off x="3333759" y="1884471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HeyMilo (piloto)</a:t>
            </a:r>
            <a:endParaRPr lang="en-US" sz="674" dirty="0"/>
          </a:p>
        </p:txBody>
      </p:sp>
      <p:sp>
        <p:nvSpPr>
          <p:cNvPr id="27" name="Text 24"/>
          <p:cNvSpPr/>
          <p:nvPr/>
        </p:nvSpPr>
        <p:spPr>
          <a:xfrm>
            <a:off x="3333759" y="2118764"/>
            <a:ext cx="2476509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B7280"/>
                </a:solidFill>
              </a:rPr>
              <a:t>OBJETIVO</a:t>
            </a:r>
            <a:endParaRPr lang="en-US" sz="584" dirty="0"/>
          </a:p>
        </p:txBody>
      </p:sp>
      <p:sp>
        <p:nvSpPr>
          <p:cNvPr id="28" name="Text 25"/>
          <p:cNvSpPr/>
          <p:nvPr/>
        </p:nvSpPr>
        <p:spPr>
          <a:xfrm>
            <a:off x="3333759" y="2291637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50 clientes</a:t>
            </a:r>
            <a:endParaRPr lang="en-US" sz="674" dirty="0"/>
          </a:p>
        </p:txBody>
      </p:sp>
      <p:sp>
        <p:nvSpPr>
          <p:cNvPr id="29" name="Text 26"/>
          <p:cNvSpPr/>
          <p:nvPr/>
        </p:nvSpPr>
        <p:spPr>
          <a:xfrm>
            <a:off x="3333759" y="2468780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Agentes prontos</a:t>
            </a:r>
            <a:endParaRPr lang="en-US" sz="674" dirty="0"/>
          </a:p>
        </p:txBody>
      </p:sp>
      <p:sp>
        <p:nvSpPr>
          <p:cNvPr id="30" name="Text 27"/>
          <p:cNvSpPr/>
          <p:nvPr/>
        </p:nvSpPr>
        <p:spPr>
          <a:xfrm>
            <a:off x="3333759" y="2645922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Pronto para migração</a:t>
            </a:r>
            <a:endParaRPr lang="en-US" sz="674" dirty="0"/>
          </a:p>
        </p:txBody>
      </p:sp>
      <p:sp>
        <p:nvSpPr>
          <p:cNvPr id="31" name="Text 28"/>
          <p:cNvSpPr/>
          <p:nvPr/>
        </p:nvSpPr>
        <p:spPr>
          <a:xfrm>
            <a:off x="3333759" y="3015946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Investimento</a:t>
            </a:r>
            <a:endParaRPr lang="en-US" sz="534" dirty="0"/>
          </a:p>
        </p:txBody>
      </p:sp>
      <p:sp>
        <p:nvSpPr>
          <p:cNvPr id="32" name="Text 29"/>
          <p:cNvSpPr/>
          <p:nvPr/>
        </p:nvSpPr>
        <p:spPr>
          <a:xfrm>
            <a:off x="3333759" y="3163091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R$ 559K</a:t>
            </a:r>
            <a:endParaRPr lang="en-US" sz="734" dirty="0"/>
          </a:p>
        </p:txBody>
      </p:sp>
      <p:sp>
        <p:nvSpPr>
          <p:cNvPr id="33" name="Text 30"/>
          <p:cNvSpPr/>
          <p:nvPr/>
        </p:nvSpPr>
        <p:spPr>
          <a:xfrm>
            <a:off x="3333759" y="3391691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Receita</a:t>
            </a:r>
            <a:endParaRPr lang="en-US" sz="534" dirty="0"/>
          </a:p>
        </p:txBody>
      </p:sp>
      <p:sp>
        <p:nvSpPr>
          <p:cNvPr id="34" name="Text 31"/>
          <p:cNvSpPr/>
          <p:nvPr/>
        </p:nvSpPr>
        <p:spPr>
          <a:xfrm>
            <a:off x="3333759" y="3538835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R$ 2.400K</a:t>
            </a:r>
            <a:endParaRPr lang="en-US" sz="734" dirty="0"/>
          </a:p>
        </p:txBody>
      </p:sp>
      <p:sp>
        <p:nvSpPr>
          <p:cNvPr id="35" name="Text 32"/>
          <p:cNvSpPr/>
          <p:nvPr/>
        </p:nvSpPr>
        <p:spPr>
          <a:xfrm>
            <a:off x="3333759" y="3767435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Margem</a:t>
            </a:r>
            <a:endParaRPr lang="en-US" sz="534" dirty="0"/>
          </a:p>
        </p:txBody>
      </p:sp>
      <p:sp>
        <p:nvSpPr>
          <p:cNvPr id="36" name="Text 33"/>
          <p:cNvSpPr/>
          <p:nvPr/>
        </p:nvSpPr>
        <p:spPr>
          <a:xfrm>
            <a:off x="3333759" y="3914580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74%</a:t>
            </a:r>
            <a:endParaRPr lang="en-US" sz="734" dirty="0"/>
          </a:p>
        </p:txBody>
      </p:sp>
      <p:sp>
        <p:nvSpPr>
          <p:cNvPr id="37" name="Shape 34"/>
          <p:cNvSpPr/>
          <p:nvPr/>
        </p:nvSpPr>
        <p:spPr>
          <a:xfrm>
            <a:off x="6096019" y="914400"/>
            <a:ext cx="2762259" cy="422910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8" name="Shape 35"/>
          <p:cNvSpPr/>
          <p:nvPr/>
        </p:nvSpPr>
        <p:spPr>
          <a:xfrm>
            <a:off x="6096019" y="914400"/>
            <a:ext cx="2762259" cy="335756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9" name="Text 36"/>
          <p:cNvSpPr/>
          <p:nvPr/>
        </p:nvSpPr>
        <p:spPr>
          <a:xfrm>
            <a:off x="6096019" y="914400"/>
            <a:ext cx="2762259" cy="335756"/>
          </a:xfrm>
          <a:prstGeom prst="rect">
            <a:avLst/>
          </a:prstGeom>
          <a:noFill/>
          <a:ln/>
        </p:spPr>
        <p:txBody>
          <a:bodyPr wrap="square" lIns="85090" tIns="85090" rIns="85090" bIns="8509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Ano 3: Escala</a:t>
            </a:r>
            <a:endParaRPr lang="en-US" sz="885" dirty="0"/>
          </a:p>
        </p:txBody>
      </p:sp>
      <p:sp>
        <p:nvSpPr>
          <p:cNvPr id="40" name="Text 37"/>
          <p:cNvSpPr/>
          <p:nvPr/>
        </p:nvSpPr>
        <p:spPr>
          <a:xfrm>
            <a:off x="6238894" y="1357313"/>
            <a:ext cx="2476509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B7280"/>
                </a:solidFill>
              </a:rPr>
              <a:t>TECNOLOGIAS</a:t>
            </a:r>
            <a:endParaRPr lang="en-US" sz="584" dirty="0"/>
          </a:p>
        </p:txBody>
      </p:sp>
      <p:sp>
        <p:nvSpPr>
          <p:cNvPr id="41" name="Text 38"/>
          <p:cNvSpPr/>
          <p:nvPr/>
        </p:nvSpPr>
        <p:spPr>
          <a:xfrm>
            <a:off x="6238894" y="1530186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Agentes próprios</a:t>
            </a:r>
            <a:endParaRPr lang="en-US" sz="674" dirty="0"/>
          </a:p>
        </p:txBody>
      </p:sp>
      <p:sp>
        <p:nvSpPr>
          <p:cNvPr id="42" name="Text 39"/>
          <p:cNvSpPr/>
          <p:nvPr/>
        </p:nvSpPr>
        <p:spPr>
          <a:xfrm>
            <a:off x="6238894" y="1707328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GCP nativo</a:t>
            </a:r>
            <a:endParaRPr lang="en-US" sz="674" dirty="0"/>
          </a:p>
        </p:txBody>
      </p:sp>
      <p:sp>
        <p:nvSpPr>
          <p:cNvPr id="43" name="Text 40"/>
          <p:cNvSpPr/>
          <p:nvPr/>
        </p:nvSpPr>
        <p:spPr>
          <a:xfrm>
            <a:off x="6238894" y="1884471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HeyMilo/Própria</a:t>
            </a:r>
            <a:endParaRPr lang="en-US" sz="674" dirty="0"/>
          </a:p>
        </p:txBody>
      </p:sp>
      <p:sp>
        <p:nvSpPr>
          <p:cNvPr id="44" name="Text 41"/>
          <p:cNvSpPr/>
          <p:nvPr/>
        </p:nvSpPr>
        <p:spPr>
          <a:xfrm>
            <a:off x="6238894" y="2118764"/>
            <a:ext cx="2476509" cy="13715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584" b="1" dirty="0">
                <a:solidFill>
                  <a:srgbClr val="6B7280"/>
                </a:solidFill>
              </a:rPr>
              <a:t>OBJETIVO</a:t>
            </a:r>
            <a:endParaRPr lang="en-US" sz="584" dirty="0"/>
          </a:p>
        </p:txBody>
      </p:sp>
      <p:sp>
        <p:nvSpPr>
          <p:cNvPr id="45" name="Text 42"/>
          <p:cNvSpPr/>
          <p:nvPr/>
        </p:nvSpPr>
        <p:spPr>
          <a:xfrm>
            <a:off x="6238894" y="2291637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100 clientes</a:t>
            </a:r>
            <a:endParaRPr lang="en-US" sz="674" dirty="0"/>
          </a:p>
        </p:txBody>
      </p:sp>
      <p:sp>
        <p:nvSpPr>
          <p:cNvPr id="46" name="Text 43"/>
          <p:cNvSpPr/>
          <p:nvPr/>
        </p:nvSpPr>
        <p:spPr>
          <a:xfrm>
            <a:off x="6238894" y="2468780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Máxima margem</a:t>
            </a:r>
            <a:endParaRPr lang="en-US" sz="674" dirty="0"/>
          </a:p>
        </p:txBody>
      </p:sp>
      <p:sp>
        <p:nvSpPr>
          <p:cNvPr id="47" name="Text 44"/>
          <p:cNvSpPr/>
          <p:nvPr/>
        </p:nvSpPr>
        <p:spPr>
          <a:xfrm>
            <a:off x="6238894" y="2645922"/>
            <a:ext cx="2476509" cy="1485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674" dirty="0">
                <a:solidFill>
                  <a:srgbClr val="4B5563"/>
                </a:solidFill>
              </a:rPr>
              <a:t>• Diferencial competitivo</a:t>
            </a:r>
            <a:endParaRPr lang="en-US" sz="674" dirty="0"/>
          </a:p>
        </p:txBody>
      </p:sp>
      <p:sp>
        <p:nvSpPr>
          <p:cNvPr id="48" name="Text 45"/>
          <p:cNvSpPr/>
          <p:nvPr/>
        </p:nvSpPr>
        <p:spPr>
          <a:xfrm>
            <a:off x="6238894" y="3015946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Investimento</a:t>
            </a:r>
            <a:endParaRPr lang="en-US" sz="534" dirty="0"/>
          </a:p>
        </p:txBody>
      </p:sp>
      <p:sp>
        <p:nvSpPr>
          <p:cNvPr id="49" name="Text 46"/>
          <p:cNvSpPr/>
          <p:nvPr/>
        </p:nvSpPr>
        <p:spPr>
          <a:xfrm>
            <a:off x="6238894" y="3163091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R$ 703K</a:t>
            </a:r>
            <a:endParaRPr lang="en-US" sz="734" dirty="0"/>
          </a:p>
        </p:txBody>
      </p:sp>
      <p:sp>
        <p:nvSpPr>
          <p:cNvPr id="50" name="Text 47"/>
          <p:cNvSpPr/>
          <p:nvPr/>
        </p:nvSpPr>
        <p:spPr>
          <a:xfrm>
            <a:off x="6238894" y="3391691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Receita</a:t>
            </a:r>
            <a:endParaRPr lang="en-US" sz="534" dirty="0"/>
          </a:p>
        </p:txBody>
      </p:sp>
      <p:sp>
        <p:nvSpPr>
          <p:cNvPr id="51" name="Text 48"/>
          <p:cNvSpPr/>
          <p:nvPr/>
        </p:nvSpPr>
        <p:spPr>
          <a:xfrm>
            <a:off x="6238894" y="3538835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R$ 4.800K</a:t>
            </a:r>
            <a:endParaRPr lang="en-US" sz="734" dirty="0"/>
          </a:p>
        </p:txBody>
      </p:sp>
      <p:sp>
        <p:nvSpPr>
          <p:cNvPr id="52" name="Text 49"/>
          <p:cNvSpPr/>
          <p:nvPr/>
        </p:nvSpPr>
        <p:spPr>
          <a:xfrm>
            <a:off x="6238894" y="3767435"/>
            <a:ext cx="2476509" cy="125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534" b="1" dirty="0">
                <a:solidFill>
                  <a:srgbClr val="6B7280"/>
                </a:solidFill>
              </a:rPr>
              <a:t>Margem</a:t>
            </a:r>
            <a:endParaRPr lang="en-US" sz="534" dirty="0"/>
          </a:p>
        </p:txBody>
      </p:sp>
      <p:sp>
        <p:nvSpPr>
          <p:cNvPr id="53" name="Text 50"/>
          <p:cNvSpPr/>
          <p:nvPr/>
        </p:nvSpPr>
        <p:spPr>
          <a:xfrm>
            <a:off x="6238894" y="3914580"/>
            <a:ext cx="247650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34" b="1" dirty="0">
                <a:solidFill>
                  <a:srgbClr val="1F2937"/>
                </a:solidFill>
              </a:rPr>
              <a:t>87%</a:t>
            </a:r>
            <a:endParaRPr lang="en-US" sz="734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85750"/>
            <a:ext cx="91440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700"/>
              </a:lnSpc>
              <a:buNone/>
            </a:pPr>
            <a:r>
              <a:rPr lang="en-US" sz="1602" b="1" dirty="0">
                <a:solidFill>
                  <a:srgbClr val="1F2937"/>
                </a:solidFill>
              </a:rPr>
              <a:t>Próximos Passos Imediatos (4 Semanas)</a:t>
            </a:r>
            <a:endParaRPr lang="en-US" sz="1602" dirty="0"/>
          </a:p>
        </p:txBody>
      </p:sp>
      <p:sp>
        <p:nvSpPr>
          <p:cNvPr id="4" name="Shape 1"/>
          <p:cNvSpPr/>
          <p:nvPr/>
        </p:nvSpPr>
        <p:spPr>
          <a:xfrm>
            <a:off x="285750" y="857250"/>
            <a:ext cx="357188" cy="3571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" name="Text 2"/>
          <p:cNvSpPr/>
          <p:nvPr/>
        </p:nvSpPr>
        <p:spPr>
          <a:xfrm>
            <a:off x="285750" y="857250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1</a:t>
            </a:r>
            <a:endParaRPr lang="en-US" sz="885" dirty="0"/>
          </a:p>
        </p:txBody>
      </p:sp>
      <p:sp>
        <p:nvSpPr>
          <p:cNvPr id="6" name="Text 3"/>
          <p:cNvSpPr/>
          <p:nvPr/>
        </p:nvSpPr>
        <p:spPr>
          <a:xfrm>
            <a:off x="785813" y="857250"/>
            <a:ext cx="250592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Semana 1: Aprovação e Setup</a:t>
            </a:r>
            <a:endParaRPr lang="en-US" sz="885" dirty="0"/>
          </a:p>
        </p:txBody>
      </p:sp>
      <p:sp>
        <p:nvSpPr>
          <p:cNvPr id="7" name="Text 4"/>
          <p:cNvSpPr/>
          <p:nvPr/>
        </p:nvSpPr>
        <p:spPr>
          <a:xfrm>
            <a:off x="928688" y="1135856"/>
            <a:ext cx="23630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Revisar análise com diretoria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928688" y="1304432"/>
            <a:ext cx="23630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Obter aprovação de orçamento (R$ 473K Ano 1)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928688" y="1473008"/>
            <a:ext cx="23630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Criar conta Beam AI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928688" y="1641584"/>
            <a:ext cx="236304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Setup inicial de credenciais e permissões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285750" y="1924459"/>
            <a:ext cx="357188" cy="3571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9"/>
          <p:cNvSpPr/>
          <p:nvPr/>
        </p:nvSpPr>
        <p:spPr>
          <a:xfrm>
            <a:off x="285750" y="192445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2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785813" y="1924459"/>
            <a:ext cx="266344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Semana 2: Integração com Infraestrutura</a:t>
            </a:r>
            <a:endParaRPr lang="en-US" sz="885" dirty="0"/>
          </a:p>
        </p:txBody>
      </p:sp>
      <p:sp>
        <p:nvSpPr>
          <p:cNvPr id="14" name="Text 11"/>
          <p:cNvSpPr/>
          <p:nvPr/>
        </p:nvSpPr>
        <p:spPr>
          <a:xfrm>
            <a:off x="928688" y="2203066"/>
            <a:ext cx="252057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Integrar Beam AI com PostgreSQL</a:t>
            </a:r>
            <a:endParaRPr lang="en-US" sz="727" dirty="0"/>
          </a:p>
        </p:txBody>
      </p:sp>
      <p:sp>
        <p:nvSpPr>
          <p:cNvPr id="15" name="Text 12"/>
          <p:cNvSpPr/>
          <p:nvPr/>
        </p:nvSpPr>
        <p:spPr>
          <a:xfrm>
            <a:off x="928688" y="2371641"/>
            <a:ext cx="252057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Integrar Beam AI com Redis (cache)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928688" y="2540217"/>
            <a:ext cx="252057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Setup de CI/CD (GitHub Actions)</a:t>
            </a:r>
            <a:endParaRPr lang="en-US" sz="727" dirty="0"/>
          </a:p>
        </p:txBody>
      </p:sp>
      <p:sp>
        <p:nvSpPr>
          <p:cNvPr id="17" name="Text 14"/>
          <p:cNvSpPr/>
          <p:nvPr/>
        </p:nvSpPr>
        <p:spPr>
          <a:xfrm>
            <a:off x="928688" y="2708793"/>
            <a:ext cx="252057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Configurar monitoramento e logging</a:t>
            </a:r>
            <a:endParaRPr lang="en-US" sz="727" dirty="0"/>
          </a:p>
        </p:txBody>
      </p:sp>
      <p:sp>
        <p:nvSpPr>
          <p:cNvPr id="18" name="Shape 15"/>
          <p:cNvSpPr/>
          <p:nvPr/>
        </p:nvSpPr>
        <p:spPr>
          <a:xfrm>
            <a:off x="285750" y="2991669"/>
            <a:ext cx="357188" cy="3571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285750" y="299166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3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785813" y="2991669"/>
            <a:ext cx="2263787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Semana 3: Primeiro Agente</a:t>
            </a:r>
            <a:endParaRPr lang="en-US" sz="885" dirty="0"/>
          </a:p>
        </p:txBody>
      </p:sp>
      <p:sp>
        <p:nvSpPr>
          <p:cNvPr id="21" name="Text 18"/>
          <p:cNvSpPr/>
          <p:nvPr/>
        </p:nvSpPr>
        <p:spPr>
          <a:xfrm>
            <a:off x="928688" y="3270275"/>
            <a:ext cx="212091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Desenvolver Agente de Extração de Dados</a:t>
            </a:r>
            <a:endParaRPr lang="en-US" sz="727" dirty="0"/>
          </a:p>
        </p:txBody>
      </p:sp>
      <p:sp>
        <p:nvSpPr>
          <p:cNvPr id="22" name="Text 19"/>
          <p:cNvSpPr/>
          <p:nvPr/>
        </p:nvSpPr>
        <p:spPr>
          <a:xfrm>
            <a:off x="928688" y="3438851"/>
            <a:ext cx="212091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Testes básicos com dados reais</a:t>
            </a:r>
            <a:endParaRPr lang="en-US" sz="727" dirty="0"/>
          </a:p>
        </p:txBody>
      </p:sp>
      <p:sp>
        <p:nvSpPr>
          <p:cNvPr id="23" name="Text 20"/>
          <p:cNvSpPr/>
          <p:nvPr/>
        </p:nvSpPr>
        <p:spPr>
          <a:xfrm>
            <a:off x="928688" y="3607426"/>
            <a:ext cx="212091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Deploy em ambiente staging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928688" y="3776002"/>
            <a:ext cx="2120912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Validação com stakeholders internos</a:t>
            </a:r>
            <a:endParaRPr lang="en-US" sz="727" dirty="0"/>
          </a:p>
        </p:txBody>
      </p:sp>
      <p:sp>
        <p:nvSpPr>
          <p:cNvPr id="25" name="Shape 22"/>
          <p:cNvSpPr/>
          <p:nvPr/>
        </p:nvSpPr>
        <p:spPr>
          <a:xfrm>
            <a:off x="285750" y="4058878"/>
            <a:ext cx="357188" cy="357188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3"/>
          <p:cNvSpPr/>
          <p:nvPr/>
        </p:nvSpPr>
        <p:spPr>
          <a:xfrm>
            <a:off x="285750" y="4058878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4</a:t>
            </a:r>
            <a:endParaRPr lang="en-US" sz="885" dirty="0"/>
          </a:p>
        </p:txBody>
      </p:sp>
      <p:sp>
        <p:nvSpPr>
          <p:cNvPr id="27" name="Text 24"/>
          <p:cNvSpPr/>
          <p:nvPr/>
        </p:nvSpPr>
        <p:spPr>
          <a:xfrm>
            <a:off x="785813" y="4058878"/>
            <a:ext cx="2006501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1F2937"/>
                </a:solidFill>
              </a:rPr>
              <a:t>Semana 4: Deploy em Produção</a:t>
            </a:r>
            <a:endParaRPr lang="en-US" sz="885" dirty="0"/>
          </a:p>
        </p:txBody>
      </p:sp>
      <p:sp>
        <p:nvSpPr>
          <p:cNvPr id="28" name="Text 25"/>
          <p:cNvSpPr/>
          <p:nvPr/>
        </p:nvSpPr>
        <p:spPr>
          <a:xfrm>
            <a:off x="928688" y="4337484"/>
            <a:ext cx="186362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Deploy em produção</a:t>
            </a:r>
            <a:endParaRPr lang="en-US" sz="727" dirty="0"/>
          </a:p>
        </p:txBody>
      </p:sp>
      <p:sp>
        <p:nvSpPr>
          <p:cNvPr id="29" name="Text 26"/>
          <p:cNvSpPr/>
          <p:nvPr/>
        </p:nvSpPr>
        <p:spPr>
          <a:xfrm>
            <a:off x="928688" y="4506060"/>
            <a:ext cx="186362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Onboard 5 clientes piloto</a:t>
            </a:r>
            <a:endParaRPr lang="en-US" sz="727" dirty="0"/>
          </a:p>
        </p:txBody>
      </p:sp>
      <p:sp>
        <p:nvSpPr>
          <p:cNvPr id="30" name="Text 27"/>
          <p:cNvSpPr/>
          <p:nvPr/>
        </p:nvSpPr>
        <p:spPr>
          <a:xfrm>
            <a:off x="928688" y="4674636"/>
            <a:ext cx="186362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Monitoramento 24/7</a:t>
            </a:r>
            <a:endParaRPr lang="en-US" sz="727" dirty="0"/>
          </a:p>
        </p:txBody>
      </p:sp>
      <p:sp>
        <p:nvSpPr>
          <p:cNvPr id="31" name="Text 28"/>
          <p:cNvSpPr/>
          <p:nvPr/>
        </p:nvSpPr>
        <p:spPr>
          <a:xfrm>
            <a:off x="928688" y="4843211"/>
            <a:ext cx="1863626" cy="1400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4B5563"/>
                </a:solidFill>
              </a:rPr>
              <a:t>Coletar feedback e ajustes iniciais</a:t>
            </a:r>
            <a:endParaRPr lang="en-US" sz="727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880132"/>
            <a:ext cx="8572500" cy="309748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1"/>
          <p:cNvSpPr/>
          <p:nvPr/>
        </p:nvSpPr>
        <p:spPr>
          <a:xfrm>
            <a:off x="285750" y="880132"/>
            <a:ext cx="28575" cy="3097485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1165882"/>
            <a:ext cx="80010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10B981"/>
                </a:solidFill>
              </a:rPr>
              <a:t>✅ Conclusão: Comece com Beam AI</a:t>
            </a:r>
            <a:endParaRPr lang="en-US" sz="1397" dirty="0"/>
          </a:p>
        </p:txBody>
      </p:sp>
      <p:sp>
        <p:nvSpPr>
          <p:cNvPr id="6" name="Text 3"/>
          <p:cNvSpPr/>
          <p:nvPr/>
        </p:nvSpPr>
        <p:spPr>
          <a:xfrm>
            <a:off x="571500" y="1608795"/>
            <a:ext cx="800100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834" dirty="0">
                <a:solidFill>
                  <a:srgbClr val="374151"/>
                </a:solidFill>
              </a:rPr>
              <a:t>A análise consolidada de agentes, infraestrutura e voice AI demonstra que usar Beam AI no Ano 1 é a estratégia ótima para validação rápida, custo mínimo e foco em crescimento. Você pode sempre migrar para agentes próprios no Ano 2 quando tiver escala e equipe.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571500" y="2234543"/>
            <a:ext cx="2571750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2234543"/>
            <a:ext cx="2571750" cy="214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2377418"/>
            <a:ext cx="22860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563EB"/>
                </a:solidFill>
              </a:rPr>
              <a:t>45%</a:t>
            </a:r>
            <a:endParaRPr lang="en-US" sz="1397" dirty="0"/>
          </a:p>
        </p:txBody>
      </p:sp>
      <p:sp>
        <p:nvSpPr>
          <p:cNvPr id="10" name="Text 7"/>
          <p:cNvSpPr/>
          <p:nvPr/>
        </p:nvSpPr>
        <p:spPr>
          <a:xfrm>
            <a:off x="714375" y="2734605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Mais barato que Build próprio</a:t>
            </a:r>
            <a:endParaRPr lang="en-US" sz="727" dirty="0"/>
          </a:p>
        </p:txBody>
      </p:sp>
      <p:sp>
        <p:nvSpPr>
          <p:cNvPr id="11" name="Shape 8"/>
          <p:cNvSpPr/>
          <p:nvPr/>
        </p:nvSpPr>
        <p:spPr>
          <a:xfrm>
            <a:off x="3286125" y="2234543"/>
            <a:ext cx="2571750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3286125" y="2234543"/>
            <a:ext cx="2571750" cy="214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0"/>
          <p:cNvSpPr/>
          <p:nvPr/>
        </p:nvSpPr>
        <p:spPr>
          <a:xfrm>
            <a:off x="3429000" y="2377418"/>
            <a:ext cx="22860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563EB"/>
                </a:solidFill>
              </a:rPr>
              <a:t>2 sem</a:t>
            </a:r>
            <a:endParaRPr lang="en-US" sz="1397" dirty="0"/>
          </a:p>
        </p:txBody>
      </p:sp>
      <p:sp>
        <p:nvSpPr>
          <p:cNvPr id="14" name="Text 11"/>
          <p:cNvSpPr/>
          <p:nvPr/>
        </p:nvSpPr>
        <p:spPr>
          <a:xfrm>
            <a:off x="3429000" y="2734605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Time to Market</a:t>
            </a:r>
            <a:endParaRPr lang="en-US" sz="727" dirty="0"/>
          </a:p>
        </p:txBody>
      </p:sp>
      <p:sp>
        <p:nvSpPr>
          <p:cNvPr id="15" name="Shape 12"/>
          <p:cNvSpPr/>
          <p:nvPr/>
        </p:nvSpPr>
        <p:spPr>
          <a:xfrm>
            <a:off x="6000750" y="2234543"/>
            <a:ext cx="2571750" cy="8143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Shape 13"/>
          <p:cNvSpPr/>
          <p:nvPr/>
        </p:nvSpPr>
        <p:spPr>
          <a:xfrm>
            <a:off x="6000750" y="2234543"/>
            <a:ext cx="2571750" cy="21431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4"/>
          <p:cNvSpPr/>
          <p:nvPr/>
        </p:nvSpPr>
        <p:spPr>
          <a:xfrm>
            <a:off x="6143625" y="2388133"/>
            <a:ext cx="228600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397" b="1" dirty="0">
                <a:solidFill>
                  <a:srgbClr val="2563EB"/>
                </a:solidFill>
              </a:rPr>
              <a:t>R$ 1.735K</a:t>
            </a:r>
            <a:endParaRPr lang="en-US" sz="1397" dirty="0"/>
          </a:p>
        </p:txBody>
      </p:sp>
      <p:sp>
        <p:nvSpPr>
          <p:cNvPr id="18" name="Text 15"/>
          <p:cNvSpPr/>
          <p:nvPr/>
        </p:nvSpPr>
        <p:spPr>
          <a:xfrm>
            <a:off x="6143625" y="2745321"/>
            <a:ext cx="2286000" cy="15001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727" dirty="0">
                <a:solidFill>
                  <a:srgbClr val="6B7280"/>
                </a:solidFill>
              </a:rPr>
              <a:t>Investimento 36 meses</a:t>
            </a:r>
            <a:endParaRPr lang="en-US" sz="727" dirty="0"/>
          </a:p>
        </p:txBody>
      </p:sp>
      <p:sp>
        <p:nvSpPr>
          <p:cNvPr id="19" name="Shape 16"/>
          <p:cNvSpPr/>
          <p:nvPr/>
        </p:nvSpPr>
        <p:spPr>
          <a:xfrm>
            <a:off x="571500" y="3252527"/>
            <a:ext cx="8001000" cy="42862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" y="3252527"/>
            <a:ext cx="8001000" cy="428625"/>
          </a:xfrm>
          <a:prstGeom prst="rect">
            <a:avLst/>
          </a:prstGeom>
          <a:noFill/>
          <a:ln/>
        </p:spPr>
        <p:txBody>
          <a:bodyPr wrap="square" lIns="255143" tIns="153035" rIns="255143" bIns="153035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FFFFFF"/>
                </a:solidFill>
              </a:rPr>
              <a:t>Próximo Passo: Criar conta Beam AI e começar integração (Semana 1)</a:t>
            </a:r>
            <a:endParaRPr lang="en-US" sz="7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2025-11-23T19:40:40Z</dcterms:created>
  <dcterms:modified xsi:type="dcterms:W3CDTF">2025-11-23T19:40:40Z</dcterms:modified>
</cp:coreProperties>
</file>