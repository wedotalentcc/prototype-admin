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3" d="100"/>
          <a:sy n="153" d="100"/>
        </p:scale>
        <p:origin x="46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2177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80145"/>
            <a:ext cx="2950369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WedoTalent: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571500" y="1597354"/>
            <a:ext cx="2912864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A Revolução</a:t>
            </a:r>
            <a:endParaRPr lang="en-US" sz="4050" dirty="0"/>
          </a:p>
        </p:txBody>
      </p:sp>
      <p:sp>
        <p:nvSpPr>
          <p:cNvPr id="5" name="Text 2"/>
          <p:cNvSpPr/>
          <p:nvPr/>
        </p:nvSpPr>
        <p:spPr>
          <a:xfrm>
            <a:off x="3484364" y="1597354"/>
            <a:ext cx="69651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na</a:t>
            </a:r>
            <a:endParaRPr lang="en-US" sz="4050" dirty="0"/>
          </a:p>
        </p:txBody>
      </p:sp>
      <p:sp>
        <p:nvSpPr>
          <p:cNvPr id="6" name="Text 3"/>
          <p:cNvSpPr/>
          <p:nvPr/>
        </p:nvSpPr>
        <p:spPr>
          <a:xfrm>
            <a:off x="571500" y="2214563"/>
            <a:ext cx="2982516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Validação de </a:t>
            </a:r>
            <a:endParaRPr lang="en-US" sz="4050" dirty="0"/>
          </a:p>
        </p:txBody>
      </p:sp>
      <p:sp>
        <p:nvSpPr>
          <p:cNvPr id="7" name="Text 4"/>
          <p:cNvSpPr/>
          <p:nvPr/>
        </p:nvSpPr>
        <p:spPr>
          <a:xfrm>
            <a:off x="571500" y="2831771"/>
            <a:ext cx="2023467" cy="64293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405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Talentos </a:t>
            </a:r>
            <a:endParaRPr lang="en-US" sz="4050" dirty="0"/>
          </a:p>
        </p:txBody>
      </p:sp>
      <p:sp>
        <p:nvSpPr>
          <p:cNvPr id="8" name="Text 5"/>
          <p:cNvSpPr/>
          <p:nvPr/>
        </p:nvSpPr>
        <p:spPr>
          <a:xfrm>
            <a:off x="571500" y="3616858"/>
            <a:ext cx="3538305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8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Transformando intuição em ciência</a:t>
            </a:r>
            <a:endParaRPr lang="en-US" sz="1688" dirty="0"/>
          </a:p>
        </p:txBody>
      </p:sp>
      <p:sp>
        <p:nvSpPr>
          <p:cNvPr id="9" name="Text 6"/>
          <p:cNvSpPr/>
          <p:nvPr/>
        </p:nvSpPr>
        <p:spPr>
          <a:xfrm>
            <a:off x="571500" y="3874033"/>
            <a:ext cx="2440177" cy="29110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688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 potencial em precisão. </a:t>
            </a:r>
            <a:endParaRPr lang="en-US" sz="1688" dirty="0"/>
          </a:p>
        </p:txBody>
      </p:sp>
      <p:sp>
        <p:nvSpPr>
          <p:cNvPr id="10" name="Shape 7"/>
          <p:cNvSpPr/>
          <p:nvPr/>
        </p:nvSpPr>
        <p:spPr>
          <a:xfrm>
            <a:off x="5857875" y="785813"/>
            <a:ext cx="2143125" cy="2143125"/>
          </a:xfrm>
          <a:prstGeom prst="ellipse">
            <a:avLst/>
          </a:prstGeom>
          <a:solidFill>
            <a:srgbClr val="74A8D2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5715000" y="1857375"/>
            <a:ext cx="1428750" cy="1428750"/>
          </a:xfrm>
          <a:prstGeom prst="ellipse">
            <a:avLst/>
          </a:prstGeom>
          <a:solidFill>
            <a:srgbClr val="C74446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Shape 9"/>
          <p:cNvSpPr/>
          <p:nvPr/>
        </p:nvSpPr>
        <p:spPr>
          <a:xfrm>
            <a:off x="7000875" y="2928938"/>
            <a:ext cx="857250" cy="857250"/>
          </a:xfrm>
          <a:prstGeom prst="ellipse">
            <a:avLst/>
          </a:prstGeom>
          <a:solidFill>
            <a:srgbClr val="F0C14A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Shape 10"/>
          <p:cNvSpPr/>
          <p:nvPr/>
        </p:nvSpPr>
        <p:spPr>
          <a:xfrm>
            <a:off x="5715000" y="1143000"/>
            <a:ext cx="714375" cy="714375"/>
          </a:xfrm>
          <a:prstGeom prst="ellipse">
            <a:avLst/>
          </a:prstGeom>
          <a:solidFill>
            <a:srgbClr val="B4D3C1">
              <a:alpha val="15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4" name="Shape 11"/>
          <p:cNvSpPr/>
          <p:nvPr/>
        </p:nvSpPr>
        <p:spPr>
          <a:xfrm rot="-2700000">
            <a:off x="6072188" y="1714500"/>
            <a:ext cx="1071563" cy="14288"/>
          </a:xfrm>
          <a:prstGeom prst="rect">
            <a:avLst/>
          </a:prstGeom>
          <a:solidFill>
            <a:srgbClr val="74A8D2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2"/>
          <p:cNvSpPr/>
          <p:nvPr/>
        </p:nvSpPr>
        <p:spPr>
          <a:xfrm rot="1800000">
            <a:off x="6429375" y="2714625"/>
            <a:ext cx="857250" cy="14288"/>
          </a:xfrm>
          <a:prstGeom prst="rect">
            <a:avLst/>
          </a:prstGeom>
          <a:solidFill>
            <a:srgbClr val="C74446">
              <a:alpha val="20000"/>
            </a:srgbClr>
          </a:solidFill>
          <a:ln/>
        </p:spPr>
        <p:txBody>
          <a:bodyPr/>
          <a:lstStyle/>
          <a:p>
            <a:endParaRPr lang="en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000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Custo Invisível de uma Contratação Ineficaz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407193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Uma má contratação não é apenas um erro operacional, é um prejuízo estratégico que afeta produtividade, cultura e o resultado financeiro.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943100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14375" y="2085975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30%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714375" y="2486025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 salário do primeiro ano é o custo de uma má contratação (U.S. Department of Labor)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3143250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9" name="Text 6"/>
          <p:cNvSpPr/>
          <p:nvPr/>
        </p:nvSpPr>
        <p:spPr>
          <a:xfrm>
            <a:off x="714375" y="3286125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$240.000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714375" y="3686175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é a perda total por erro, incluindo recrutamento, onboarding e substituição (Forbes, 2022)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571500" y="4343400"/>
            <a:ext cx="4071938" cy="108585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714375" y="4486275"/>
            <a:ext cx="378618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40%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14375" y="4886325"/>
            <a:ext cx="37861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 redução na produtividade da equipe causada por funcionários desengajados (Business News Daily)</a:t>
            </a:r>
            <a:endParaRPr lang="en-US" sz="942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767" y="1235761"/>
            <a:ext cx="4391648" cy="35048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936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Por que a Triagem Manual Já Não é Suficiente?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Em um mercado de talentos dinâmico, a triagem manual de currículos e as entrevistas não estruturadas são processos lentos, inconsistentes e repletos de vieses inconscientes.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714500"/>
            <a:ext cx="7858125" cy="5929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800100" y="1914525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Desafio do Processo Tradicional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643438" y="1914525"/>
            <a:ext cx="3557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Consequência para o Negócio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2393156"/>
            <a:ext cx="7858125" cy="80010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2621756"/>
            <a:ext cx="142875" cy="1428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8700" y="2594967"/>
            <a:ext cx="25433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Subjetividade e Vieses Inconscientes </a:t>
            </a:r>
            <a:endParaRPr lang="en-US" sz="1046" dirty="0"/>
          </a:p>
        </p:txBody>
      </p:sp>
      <p:sp>
        <p:nvSpPr>
          <p:cNvPr id="11" name="Text 7"/>
          <p:cNvSpPr/>
          <p:nvPr/>
        </p:nvSpPr>
        <p:spPr>
          <a:xfrm>
            <a:off x="4643438" y="2593181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Decisões inconsistentes, menor diversidade e risco de erro. 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571500" y="3278981"/>
            <a:ext cx="7858125" cy="800100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3507581"/>
            <a:ext cx="107156" cy="14287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92981" y="3480792"/>
            <a:ext cx="157634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Lentidão e Ineficiência 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4643438" y="3479006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Perda de bons candidatos para a concorrência e alto custo operacional. 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571500" y="4164806"/>
            <a:ext cx="7858125" cy="800100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393406"/>
            <a:ext cx="178594" cy="14287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64419" y="4366617"/>
            <a:ext cx="152893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Falta de Padronização </a:t>
            </a:r>
            <a:endParaRPr lang="en-US" sz="1046" dirty="0"/>
          </a:p>
        </p:txBody>
      </p:sp>
      <p:sp>
        <p:nvSpPr>
          <p:cNvPr id="19" name="Text 13"/>
          <p:cNvSpPr/>
          <p:nvPr/>
        </p:nvSpPr>
        <p:spPr>
          <a:xfrm>
            <a:off x="4643438" y="4364831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Impossibilidade de comparar candidatos de forma justa e objetiva. </a:t>
            </a:r>
            <a:endParaRPr lang="en-US" sz="942" dirty="0"/>
          </a:p>
        </p:txBody>
      </p:sp>
      <p:sp>
        <p:nvSpPr>
          <p:cNvPr id="20" name="Shape 14"/>
          <p:cNvSpPr/>
          <p:nvPr/>
        </p:nvSpPr>
        <p:spPr>
          <a:xfrm>
            <a:off x="571500" y="5050631"/>
            <a:ext cx="7858125" cy="800100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800100" y="5279231"/>
            <a:ext cx="107156" cy="14287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92981" y="5252442"/>
            <a:ext cx="1708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Foco em Autodeclaração </a:t>
            </a:r>
            <a:endParaRPr lang="en-US" sz="1046" dirty="0"/>
          </a:p>
        </p:txBody>
      </p:sp>
      <p:sp>
        <p:nvSpPr>
          <p:cNvPr id="23" name="Text 16"/>
          <p:cNvSpPr/>
          <p:nvPr/>
        </p:nvSpPr>
        <p:spPr>
          <a:xfrm>
            <a:off x="4643438" y="5250656"/>
            <a:ext cx="355758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Contratação baseada em currículo, não em competência comprovada. 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14338"/>
            <a:ext cx="458093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Apresentando a Metodologia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152430" y="414338"/>
            <a:ext cx="646509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WSI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571500" y="971550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WedoTalent introduz uma abordagem revolucionária que transforma a triagem em um diagnóstico preciso. O WSI é um framework de avaliação que utiliza Inteligência Artificial para validar competências técnicas, comportamentais e culturais de forma objetiva, escalável e preditiva. </a:t>
            </a:r>
            <a:endParaRPr lang="en-US" sz="1046" dirty="0"/>
          </a:p>
        </p:txBody>
      </p:sp>
      <p:sp>
        <p:nvSpPr>
          <p:cNvPr id="6" name="Text 3"/>
          <p:cNvSpPr/>
          <p:nvPr/>
        </p:nvSpPr>
        <p:spPr>
          <a:xfrm>
            <a:off x="571500" y="1771650"/>
            <a:ext cx="800100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Nós não apenas encontramos candidatos. Nós validamos o talento. </a:t>
            </a:r>
            <a:endParaRPr lang="en-US" sz="1046" dirty="0"/>
          </a:p>
        </p:txBody>
      </p:sp>
      <p:sp>
        <p:nvSpPr>
          <p:cNvPr id="7" name="Shape 4"/>
          <p:cNvSpPr/>
          <p:nvPr/>
        </p:nvSpPr>
        <p:spPr>
          <a:xfrm>
            <a:off x="2307682" y="2314575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6295" y="2586038"/>
            <a:ext cx="3429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277824" y="3457575"/>
            <a:ext cx="10598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Job Description</a:t>
            </a:r>
            <a:endParaRPr lang="en-US" sz="1046" dirty="0"/>
          </a:p>
        </p:txBody>
      </p:sp>
      <p:sp>
        <p:nvSpPr>
          <p:cNvPr id="10" name="Text 6"/>
          <p:cNvSpPr/>
          <p:nvPr/>
        </p:nvSpPr>
        <p:spPr>
          <a:xfrm>
            <a:off x="2304836" y="3657600"/>
            <a:ext cx="100584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Requisitos da vaga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3480569" y="2814638"/>
            <a:ext cx="3429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4101796" y="2314575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6109" y="2586038"/>
            <a:ext cx="5715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8256" y="3457575"/>
            <a:ext cx="50720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LIA / IA</a:t>
            </a:r>
            <a:endParaRPr lang="en-US" sz="1046" dirty="0"/>
          </a:p>
        </p:txBody>
      </p:sp>
      <p:sp>
        <p:nvSpPr>
          <p:cNvPr id="15" name="Text 10"/>
          <p:cNvSpPr/>
          <p:nvPr/>
        </p:nvSpPr>
        <p:spPr>
          <a:xfrm>
            <a:off x="3966344" y="3657600"/>
            <a:ext cx="127102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Triagem conversacional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5380248" y="2814638"/>
            <a:ext cx="34290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2700" dirty="0"/>
          </a:p>
        </p:txBody>
      </p:sp>
      <p:sp>
        <p:nvSpPr>
          <p:cNvPr id="17" name="Shape 12"/>
          <p:cNvSpPr/>
          <p:nvPr/>
        </p:nvSpPr>
        <p:spPr>
          <a:xfrm>
            <a:off x="5866023" y="2314575"/>
            <a:ext cx="1000125" cy="100012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7486" y="2586038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23325" y="3457575"/>
            <a:ext cx="6855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Score</a:t>
            </a:r>
            <a:endParaRPr lang="en-US" sz="1046" dirty="0"/>
          </a:p>
        </p:txBody>
      </p:sp>
      <p:sp>
        <p:nvSpPr>
          <p:cNvPr id="20" name="Text 14"/>
          <p:cNvSpPr/>
          <p:nvPr/>
        </p:nvSpPr>
        <p:spPr>
          <a:xfrm>
            <a:off x="5893845" y="3657600"/>
            <a:ext cx="94448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Ranking preditivo</a:t>
            </a:r>
            <a:endParaRPr lang="en-US" sz="837" dirty="0"/>
          </a:p>
        </p:txBody>
      </p:sp>
      <p:sp>
        <p:nvSpPr>
          <p:cNvPr id="21" name="Text 15"/>
          <p:cNvSpPr/>
          <p:nvPr/>
        </p:nvSpPr>
        <p:spPr>
          <a:xfrm>
            <a:off x="571500" y="4286250"/>
            <a:ext cx="80010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"Do Job Description ao Score Preditivo, em minutos." </a:t>
            </a:r>
            <a:endParaRPr lang="en-US" sz="168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86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Proposta de Valor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metodologia WSI entrega resultados concretos e mensuráveis para transformar seu processo de recrutamento e seleção.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714500"/>
            <a:ext cx="3843338" cy="1714500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2028825"/>
            <a:ext cx="400050" cy="400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14450" y="1943100"/>
            <a:ext cx="2900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Precisão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14450" y="2269927"/>
            <a:ext cx="287315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Validade preditiva equiparável aos melhores sistemas </a:t>
            </a:r>
            <a:endParaRPr lang="en-US" sz="837" dirty="0"/>
          </a:p>
        </p:txBody>
      </p:sp>
      <p:sp>
        <p:nvSpPr>
          <p:cNvPr id="9" name="Text 5"/>
          <p:cNvSpPr/>
          <p:nvPr/>
        </p:nvSpPr>
        <p:spPr>
          <a:xfrm>
            <a:off x="1314450" y="2452790"/>
            <a:ext cx="4173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globais </a:t>
            </a:r>
            <a:endParaRPr lang="en-US" sz="837" dirty="0"/>
          </a:p>
        </p:txBody>
      </p:sp>
      <p:sp>
        <p:nvSpPr>
          <p:cNvPr id="10" name="Text 6"/>
          <p:cNvSpPr/>
          <p:nvPr/>
        </p:nvSpPr>
        <p:spPr>
          <a:xfrm>
            <a:off x="1731773" y="2452790"/>
            <a:ext cx="53184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(r ≥ 0.60)</a:t>
            </a:r>
            <a:endParaRPr lang="en-US" sz="837" dirty="0"/>
          </a:p>
        </p:txBody>
      </p:sp>
      <p:sp>
        <p:nvSpPr>
          <p:cNvPr id="11" name="Text 7"/>
          <p:cNvSpPr/>
          <p:nvPr/>
        </p:nvSpPr>
        <p:spPr>
          <a:xfrm>
            <a:off x="2263620" y="2452790"/>
            <a:ext cx="166273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garantindo que os candidatos </a:t>
            </a:r>
            <a:endParaRPr lang="en-US" sz="837" dirty="0"/>
          </a:p>
        </p:txBody>
      </p:sp>
      <p:sp>
        <p:nvSpPr>
          <p:cNvPr id="12" name="Text 8"/>
          <p:cNvSpPr/>
          <p:nvPr/>
        </p:nvSpPr>
        <p:spPr>
          <a:xfrm>
            <a:off x="1314450" y="2635653"/>
            <a:ext cx="259209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aprovados têm alta probabilidade de sucesso na </a:t>
            </a:r>
            <a:endParaRPr lang="en-US" sz="837" dirty="0"/>
          </a:p>
        </p:txBody>
      </p:sp>
      <p:sp>
        <p:nvSpPr>
          <p:cNvPr id="13" name="Text 9"/>
          <p:cNvSpPr/>
          <p:nvPr/>
        </p:nvSpPr>
        <p:spPr>
          <a:xfrm>
            <a:off x="1314450" y="2818516"/>
            <a:ext cx="3993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função. </a:t>
            </a:r>
            <a:endParaRPr lang="en-US" sz="837" dirty="0"/>
          </a:p>
        </p:txBody>
      </p:sp>
      <p:sp>
        <p:nvSpPr>
          <p:cNvPr id="14" name="Shape 10"/>
          <p:cNvSpPr/>
          <p:nvPr/>
        </p:nvSpPr>
        <p:spPr>
          <a:xfrm>
            <a:off x="4586288" y="1714500"/>
            <a:ext cx="3843338" cy="1714500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2028825"/>
            <a:ext cx="500063" cy="4000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29250" y="1943100"/>
            <a:ext cx="28003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Objetividade 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5429250" y="2269927"/>
            <a:ext cx="91258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Redução de viés</a:t>
            </a:r>
            <a:endParaRPr lang="en-US" sz="837" dirty="0"/>
          </a:p>
        </p:txBody>
      </p:sp>
      <p:sp>
        <p:nvSpPr>
          <p:cNvPr id="18" name="Text 13"/>
          <p:cNvSpPr/>
          <p:nvPr/>
        </p:nvSpPr>
        <p:spPr>
          <a:xfrm>
            <a:off x="6341836" y="2269927"/>
            <a:ext cx="181417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através de critérios padronizados </a:t>
            </a:r>
            <a:endParaRPr lang="en-US" sz="837" dirty="0"/>
          </a:p>
        </p:txBody>
      </p:sp>
      <p:sp>
        <p:nvSpPr>
          <p:cNvPr id="19" name="Text 14"/>
          <p:cNvSpPr/>
          <p:nvPr/>
        </p:nvSpPr>
        <p:spPr>
          <a:xfrm>
            <a:off x="5429250" y="2452790"/>
            <a:ext cx="258056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validação cruzada, promovendo decisões mais </a:t>
            </a:r>
            <a:endParaRPr lang="en-US" sz="837" dirty="0"/>
          </a:p>
        </p:txBody>
      </p:sp>
      <p:sp>
        <p:nvSpPr>
          <p:cNvPr id="20" name="Text 15"/>
          <p:cNvSpPr/>
          <p:nvPr/>
        </p:nvSpPr>
        <p:spPr>
          <a:xfrm>
            <a:off x="5429250" y="2635653"/>
            <a:ext cx="22149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justas e diversidade no processo seletivo. </a:t>
            </a:r>
            <a:endParaRPr lang="en-US" sz="837" dirty="0"/>
          </a:p>
        </p:txBody>
      </p:sp>
      <p:sp>
        <p:nvSpPr>
          <p:cNvPr id="21" name="Shape 16"/>
          <p:cNvSpPr/>
          <p:nvPr/>
        </p:nvSpPr>
        <p:spPr>
          <a:xfrm>
            <a:off x="571500" y="3600450"/>
            <a:ext cx="3843338" cy="1714500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3914775"/>
            <a:ext cx="400050" cy="40005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14450" y="3829050"/>
            <a:ext cx="29003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Eficiência 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314450" y="4155877"/>
            <a:ext cx="11219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Até 90% de redução</a:t>
            </a:r>
            <a:endParaRPr lang="en-US" sz="837" dirty="0"/>
          </a:p>
        </p:txBody>
      </p:sp>
      <p:sp>
        <p:nvSpPr>
          <p:cNvPr id="25" name="Text 19"/>
          <p:cNvSpPr/>
          <p:nvPr/>
        </p:nvSpPr>
        <p:spPr>
          <a:xfrm>
            <a:off x="2436437" y="4155877"/>
            <a:ext cx="163541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 tempo de triagem manual, </a:t>
            </a:r>
            <a:endParaRPr lang="en-US" sz="837" dirty="0"/>
          </a:p>
        </p:txBody>
      </p:sp>
      <p:sp>
        <p:nvSpPr>
          <p:cNvPr id="26" name="Text 20"/>
          <p:cNvSpPr/>
          <p:nvPr/>
        </p:nvSpPr>
        <p:spPr>
          <a:xfrm>
            <a:off x="1314450" y="4338740"/>
            <a:ext cx="24861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liberando sua equipe para focar em atividades </a:t>
            </a:r>
            <a:endParaRPr lang="en-US" sz="837" dirty="0"/>
          </a:p>
        </p:txBody>
      </p:sp>
      <p:sp>
        <p:nvSpPr>
          <p:cNvPr id="27" name="Text 21"/>
          <p:cNvSpPr/>
          <p:nvPr/>
        </p:nvSpPr>
        <p:spPr>
          <a:xfrm>
            <a:off x="1314450" y="4521603"/>
            <a:ext cx="24956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estratégicas e relacionamento com candidatos </a:t>
            </a:r>
            <a:endParaRPr lang="en-US" sz="837" dirty="0"/>
          </a:p>
        </p:txBody>
      </p:sp>
      <p:sp>
        <p:nvSpPr>
          <p:cNvPr id="28" name="Text 22"/>
          <p:cNvSpPr/>
          <p:nvPr/>
        </p:nvSpPr>
        <p:spPr>
          <a:xfrm>
            <a:off x="1314450" y="4704466"/>
            <a:ext cx="6766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qualificados. </a:t>
            </a:r>
            <a:endParaRPr lang="en-US" sz="837" dirty="0"/>
          </a:p>
        </p:txBody>
      </p:sp>
      <p:sp>
        <p:nvSpPr>
          <p:cNvPr id="29" name="Shape 23"/>
          <p:cNvSpPr/>
          <p:nvPr/>
        </p:nvSpPr>
        <p:spPr>
          <a:xfrm>
            <a:off x="4586288" y="3600450"/>
            <a:ext cx="3843338" cy="1714500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3914775"/>
            <a:ext cx="450056" cy="4000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79244" y="3829050"/>
            <a:ext cx="285035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Transparência </a:t>
            </a: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5379244" y="4155877"/>
            <a:ext cx="11816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Total rastreabilidade</a:t>
            </a:r>
            <a:endParaRPr lang="en-US" sz="837" dirty="0"/>
          </a:p>
        </p:txBody>
      </p:sp>
      <p:sp>
        <p:nvSpPr>
          <p:cNvPr id="33" name="Text 26"/>
          <p:cNvSpPr/>
          <p:nvPr/>
        </p:nvSpPr>
        <p:spPr>
          <a:xfrm>
            <a:off x="6560893" y="4155877"/>
            <a:ext cx="1622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critérios, pesos e decisões. </a:t>
            </a:r>
            <a:endParaRPr lang="en-US" sz="837" dirty="0"/>
          </a:p>
        </p:txBody>
      </p:sp>
      <p:sp>
        <p:nvSpPr>
          <p:cNvPr id="34" name="Text 27"/>
          <p:cNvSpPr/>
          <p:nvPr/>
        </p:nvSpPr>
        <p:spPr>
          <a:xfrm>
            <a:off x="5379244" y="4338740"/>
            <a:ext cx="26184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Você tem acesso completo às respostas, scores e </a:t>
            </a:r>
            <a:endParaRPr lang="en-US" sz="837" dirty="0"/>
          </a:p>
        </p:txBody>
      </p:sp>
      <p:sp>
        <p:nvSpPr>
          <p:cNvPr id="35" name="Text 28"/>
          <p:cNvSpPr/>
          <p:nvPr/>
        </p:nvSpPr>
        <p:spPr>
          <a:xfrm>
            <a:off x="5379244" y="4521603"/>
            <a:ext cx="179165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justificativas, sem "caixas pretas". </a:t>
            </a:r>
            <a:endParaRPr lang="en-US" sz="837" dirty="0"/>
          </a:p>
        </p:txBody>
      </p:sp>
      <p:sp>
        <p:nvSpPr>
          <p:cNvPr id="36" name="Text 29"/>
          <p:cNvSpPr/>
          <p:nvPr/>
        </p:nvSpPr>
        <p:spPr>
          <a:xfrm>
            <a:off x="571500" y="5600700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"Transforme intuição em ciência. Transforme triagem em diagnóstico." 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293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 Ciência por Trás da Precisão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14400"/>
            <a:ext cx="800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Nossa metodologia não é mágica, é ciência. O WSI integra quatro modelos teóricos reconhecidos mundialmente para garantir uma análise 360º do candidato.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600200"/>
            <a:ext cx="3857625" cy="1685925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71525" y="180022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1. Competency-Based Interviewing (CBI) 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71525" y="211455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McClelland, 1973 - Harvard University 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771525" y="232171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9" name="Text 6"/>
          <p:cNvSpPr/>
          <p:nvPr/>
        </p:nvSpPr>
        <p:spPr>
          <a:xfrm>
            <a:off x="1309315" y="2321719"/>
            <a:ext cx="24149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Comportamentos passados são os melhores </a:t>
            </a:r>
            <a:endParaRPr lang="en-US" sz="837" dirty="0"/>
          </a:p>
        </p:txBody>
      </p:sp>
      <p:sp>
        <p:nvSpPr>
          <p:cNvPr id="10" name="Text 7"/>
          <p:cNvSpPr/>
          <p:nvPr/>
        </p:nvSpPr>
        <p:spPr>
          <a:xfrm>
            <a:off x="771525" y="2493169"/>
            <a:ext cx="183806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preditores de performance futura. </a:t>
            </a:r>
            <a:endParaRPr lang="en-US" sz="837" dirty="0"/>
          </a:p>
        </p:txBody>
      </p:sp>
      <p:sp>
        <p:nvSpPr>
          <p:cNvPr id="11" name="Text 8"/>
          <p:cNvSpPr/>
          <p:nvPr/>
        </p:nvSpPr>
        <p:spPr>
          <a:xfrm>
            <a:off x="771525" y="2743200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entender o comportamento passado e prever a performance futura </a:t>
            </a:r>
            <a:endParaRPr lang="en-US" sz="837" dirty="0"/>
          </a:p>
        </p:txBody>
      </p:sp>
      <p:sp>
        <p:nvSpPr>
          <p:cNvPr id="12" name="Shape 9"/>
          <p:cNvSpPr/>
          <p:nvPr/>
        </p:nvSpPr>
        <p:spPr>
          <a:xfrm>
            <a:off x="4572000" y="1600200"/>
            <a:ext cx="3857625" cy="1685925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3" name="Text 10"/>
          <p:cNvSpPr/>
          <p:nvPr/>
        </p:nvSpPr>
        <p:spPr>
          <a:xfrm>
            <a:off x="4772025" y="180022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2. Taxonomia de Bloom 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72025" y="211455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Anderson et al., 2001 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4772025" y="232171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16" name="Text 13"/>
          <p:cNvSpPr/>
          <p:nvPr/>
        </p:nvSpPr>
        <p:spPr>
          <a:xfrm>
            <a:off x="5309815" y="2321719"/>
            <a:ext cx="269852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Hierarquia cognitiva (Lembrar → Compreender → </a:t>
            </a:r>
            <a:endParaRPr lang="en-US" sz="837" dirty="0"/>
          </a:p>
        </p:txBody>
      </p:sp>
      <p:sp>
        <p:nvSpPr>
          <p:cNvPr id="17" name="Text 14"/>
          <p:cNvSpPr/>
          <p:nvPr/>
        </p:nvSpPr>
        <p:spPr>
          <a:xfrm>
            <a:off x="4772025" y="2493169"/>
            <a:ext cx="14740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Aplicar → Analisar → Criar). </a:t>
            </a:r>
            <a:endParaRPr lang="en-US" sz="837" dirty="0"/>
          </a:p>
        </p:txBody>
      </p:sp>
      <p:sp>
        <p:nvSpPr>
          <p:cNvPr id="18" name="Text 15"/>
          <p:cNvSpPr/>
          <p:nvPr/>
        </p:nvSpPr>
        <p:spPr>
          <a:xfrm>
            <a:off x="4772025" y="2914650"/>
            <a:ext cx="34575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medir a profundidade do conhecimento técnico </a:t>
            </a:r>
            <a:endParaRPr lang="en-US" sz="837" dirty="0"/>
          </a:p>
        </p:txBody>
      </p:sp>
      <p:sp>
        <p:nvSpPr>
          <p:cNvPr id="19" name="Shape 16"/>
          <p:cNvSpPr/>
          <p:nvPr/>
        </p:nvSpPr>
        <p:spPr>
          <a:xfrm>
            <a:off x="571500" y="3429000"/>
            <a:ext cx="3857625" cy="1685925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7"/>
          <p:cNvSpPr/>
          <p:nvPr/>
        </p:nvSpPr>
        <p:spPr>
          <a:xfrm>
            <a:off x="771525" y="362902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3. Modelo Dreyfus 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71525" y="394335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Dreyfus &amp; Dreyfus, 1980 - UC Berkeley 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771525" y="415051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1309315" y="4150519"/>
            <a:ext cx="24955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Evolução do domínio em 5 estágios (Novice →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771525" y="4321969"/>
            <a:ext cx="41218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Expert).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771525" y="4572000"/>
            <a:ext cx="3457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classificar o nível de maturidade e autonomia profissional </a:t>
            </a:r>
            <a:endParaRPr lang="en-US" sz="837" dirty="0"/>
          </a:p>
        </p:txBody>
      </p:sp>
      <p:sp>
        <p:nvSpPr>
          <p:cNvPr id="26" name="Shape 23"/>
          <p:cNvSpPr/>
          <p:nvPr/>
        </p:nvSpPr>
        <p:spPr>
          <a:xfrm>
            <a:off x="4572000" y="3429000"/>
            <a:ext cx="3857625" cy="1685925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4"/>
          <p:cNvSpPr/>
          <p:nvPr/>
        </p:nvSpPr>
        <p:spPr>
          <a:xfrm>
            <a:off x="4772025" y="3629025"/>
            <a:ext cx="3457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4. Big Five (OCEAN) 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4772025" y="3943350"/>
            <a:ext cx="34575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Goldberg, 1992 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4772025" y="4150519"/>
            <a:ext cx="53779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</a:t>
            </a:r>
            <a:endParaRPr lang="en-US" sz="837" dirty="0"/>
          </a:p>
        </p:txBody>
      </p:sp>
      <p:sp>
        <p:nvSpPr>
          <p:cNvPr id="30" name="Text 27"/>
          <p:cNvSpPr/>
          <p:nvPr/>
        </p:nvSpPr>
        <p:spPr>
          <a:xfrm>
            <a:off x="5309815" y="4150519"/>
            <a:ext cx="24173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Cinco traços comportamentais preditores de </a:t>
            </a:r>
            <a:endParaRPr lang="en-US" sz="837" dirty="0"/>
          </a:p>
        </p:txBody>
      </p:sp>
      <p:sp>
        <p:nvSpPr>
          <p:cNvPr id="31" name="Text 28"/>
          <p:cNvSpPr/>
          <p:nvPr/>
        </p:nvSpPr>
        <p:spPr>
          <a:xfrm>
            <a:off x="4772025" y="4321969"/>
            <a:ext cx="72924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performance. </a:t>
            </a:r>
            <a:endParaRPr lang="en-US" sz="837" dirty="0"/>
          </a:p>
        </p:txBody>
      </p:sp>
      <p:sp>
        <p:nvSpPr>
          <p:cNvPr id="32" name="Text 29"/>
          <p:cNvSpPr/>
          <p:nvPr/>
        </p:nvSpPr>
        <p:spPr>
          <a:xfrm>
            <a:off x="4772025" y="4743450"/>
            <a:ext cx="34575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→ Para avaliar a aderência comportamental e o fit cultural </a:t>
            </a:r>
            <a:endParaRPr lang="en-US" sz="837" dirty="0"/>
          </a:p>
        </p:txBody>
      </p:sp>
      <p:sp>
        <p:nvSpPr>
          <p:cNvPr id="33" name="Shape 30"/>
          <p:cNvSpPr/>
          <p:nvPr/>
        </p:nvSpPr>
        <p:spPr>
          <a:xfrm>
            <a:off x="2611236" y="5286375"/>
            <a:ext cx="3921500" cy="485775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4" name="Text 31"/>
          <p:cNvSpPr/>
          <p:nvPr/>
        </p:nvSpPr>
        <p:spPr>
          <a:xfrm>
            <a:off x="2954136" y="5400675"/>
            <a:ext cx="32357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688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= WSI (WeDoTalent Skill Index) </a:t>
            </a:r>
            <a:endParaRPr lang="en-US" sz="16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292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A LIA em Ação: Uma Conversa que Gera Dados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1028700"/>
            <a:ext cx="485775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Através de uma conversa natural e engajadora via WhatsApp ou WebApp, nossa IA aplica diferentes tipos de perguntas, cada uma com um objetivo específico, para extrair evidências reais de competência.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2043113"/>
            <a:ext cx="1618562" cy="246459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2114550"/>
            <a:ext cx="133945" cy="107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6895" y="2093119"/>
            <a:ext cx="1198866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de Contexto </a:t>
            </a:r>
            <a:endParaRPr lang="en-US" sz="785" dirty="0"/>
          </a:p>
        </p:txBody>
      </p:sp>
      <p:sp>
        <p:nvSpPr>
          <p:cNvPr id="8" name="Text 4"/>
          <p:cNvSpPr/>
          <p:nvPr/>
        </p:nvSpPr>
        <p:spPr>
          <a:xfrm>
            <a:off x="571500" y="2375297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validar aplicação real em projetos passados e experiências concretas.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2746772"/>
            <a:ext cx="1424090" cy="246459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2818209"/>
            <a:ext cx="133945" cy="1071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6895" y="2796778"/>
            <a:ext cx="1004395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Técnicas </a:t>
            </a:r>
            <a:endParaRPr lang="en-US" sz="785" dirty="0"/>
          </a:p>
        </p:txBody>
      </p:sp>
      <p:sp>
        <p:nvSpPr>
          <p:cNvPr id="12" name="Text 7"/>
          <p:cNvSpPr/>
          <p:nvPr/>
        </p:nvSpPr>
        <p:spPr>
          <a:xfrm>
            <a:off x="571500" y="3078956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testar lógica, raciocínio prático e profundidade de conhecimento. </a:t>
            </a:r>
            <a:endParaRPr lang="en-US" sz="942" dirty="0"/>
          </a:p>
        </p:txBody>
      </p:sp>
      <p:sp>
        <p:nvSpPr>
          <p:cNvPr id="13" name="Shape 8"/>
          <p:cNvSpPr/>
          <p:nvPr/>
        </p:nvSpPr>
        <p:spPr>
          <a:xfrm>
            <a:off x="571500" y="3450431"/>
            <a:ext cx="1616106" cy="246459"/>
          </a:xfrm>
          <a:prstGeom prst="rect">
            <a:avLst/>
          </a:prstGeom>
          <a:solidFill>
            <a:srgbClr val="E3B868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85800" y="3521869"/>
            <a:ext cx="133945" cy="1071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76895" y="3500438"/>
            <a:ext cx="1196411" cy="1464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85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Perguntas Situacionais </a:t>
            </a:r>
            <a:endParaRPr lang="en-US" sz="785" dirty="0"/>
          </a:p>
        </p:txBody>
      </p:sp>
      <p:sp>
        <p:nvSpPr>
          <p:cNvPr id="16" name="Text 10"/>
          <p:cNvSpPr/>
          <p:nvPr/>
        </p:nvSpPr>
        <p:spPr>
          <a:xfrm>
            <a:off x="571500" y="3782616"/>
            <a:ext cx="485775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 avaliar comportamento, fit cultural e soft skills essenciais. </a:t>
            </a:r>
            <a:endParaRPr lang="en-US" sz="942" dirty="0"/>
          </a:p>
        </p:txBody>
      </p:sp>
      <p:sp>
        <p:nvSpPr>
          <p:cNvPr id="17" name="Text 11"/>
          <p:cNvSpPr/>
          <p:nvPr/>
        </p:nvSpPr>
        <p:spPr>
          <a:xfrm>
            <a:off x="571500" y="4211241"/>
            <a:ext cx="4857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Deixamos de lado perguntas hipotéticas e focamos em evidências comportamentais e técnicas validadas por décadas de pesquisa. </a:t>
            </a:r>
            <a:endParaRPr lang="en-US" sz="942" dirty="0"/>
          </a:p>
        </p:txBody>
      </p:sp>
      <p:sp>
        <p:nvSpPr>
          <p:cNvPr id="18" name="Shape 12"/>
          <p:cNvSpPr/>
          <p:nvPr/>
        </p:nvSpPr>
        <p:spPr>
          <a:xfrm>
            <a:off x="5929313" y="1028700"/>
            <a:ext cx="2286000" cy="4143375"/>
          </a:xfrm>
          <a:prstGeom prst="rect">
            <a:avLst/>
          </a:prstGeom>
          <a:solidFill>
            <a:srgbClr val="F3EBE1"/>
          </a:solidFill>
          <a:ln w="794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Shape 13"/>
          <p:cNvSpPr/>
          <p:nvPr/>
        </p:nvSpPr>
        <p:spPr>
          <a:xfrm>
            <a:off x="5929313" y="1028700"/>
            <a:ext cx="2286000" cy="400050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526178" y="1171575"/>
            <a:ext cx="100013" cy="1143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83341" y="1150144"/>
            <a:ext cx="93510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LIA - WedoTalent </a:t>
            </a:r>
            <a:endParaRPr lang="en-US" sz="837" dirty="0"/>
          </a:p>
        </p:txBody>
      </p:sp>
      <p:sp>
        <p:nvSpPr>
          <p:cNvPr id="22" name="Shape 15"/>
          <p:cNvSpPr/>
          <p:nvPr/>
        </p:nvSpPr>
        <p:spPr>
          <a:xfrm>
            <a:off x="6015038" y="1614488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3" name="Text 16"/>
          <p:cNvSpPr/>
          <p:nvPr/>
        </p:nvSpPr>
        <p:spPr>
          <a:xfrm>
            <a:off x="6015038" y="1614488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Olá! Vou fazer algumas perguntas sobre suas competências. De 1 a 5, quanto você domina Python? </a:t>
            </a:r>
            <a:endParaRPr lang="en-US" sz="732" dirty="0"/>
          </a:p>
        </p:txBody>
      </p:sp>
      <p:sp>
        <p:nvSpPr>
          <p:cNvPr id="24" name="Shape 17"/>
          <p:cNvSpPr/>
          <p:nvPr/>
        </p:nvSpPr>
        <p:spPr>
          <a:xfrm>
            <a:off x="6272213" y="2307431"/>
            <a:ext cx="1857375" cy="321469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Text 18"/>
          <p:cNvSpPr/>
          <p:nvPr/>
        </p:nvSpPr>
        <p:spPr>
          <a:xfrm>
            <a:off x="6272213" y="2307431"/>
            <a:ext cx="1857375" cy="321469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4 - Tenho bastante experiência </a:t>
            </a:r>
            <a:endParaRPr lang="en-US" sz="732" dirty="0"/>
          </a:p>
        </p:txBody>
      </p:sp>
      <p:sp>
        <p:nvSpPr>
          <p:cNvPr id="26" name="Shape 19"/>
          <p:cNvSpPr/>
          <p:nvPr/>
        </p:nvSpPr>
        <p:spPr>
          <a:xfrm>
            <a:off x="6015038" y="2700338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7" name="Text 20"/>
          <p:cNvSpPr/>
          <p:nvPr/>
        </p:nvSpPr>
        <p:spPr>
          <a:xfrm>
            <a:off x="6015038" y="2700338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Ótimo! Agora me conte sobre um projeto complexo onde você aplicou Python. </a:t>
            </a:r>
            <a:endParaRPr lang="en-US" sz="732" dirty="0"/>
          </a:p>
        </p:txBody>
      </p:sp>
      <p:sp>
        <p:nvSpPr>
          <p:cNvPr id="28" name="Shape 21"/>
          <p:cNvSpPr/>
          <p:nvPr/>
        </p:nvSpPr>
        <p:spPr>
          <a:xfrm>
            <a:off x="6272213" y="3393281"/>
            <a:ext cx="1857375" cy="471488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Text 22"/>
          <p:cNvSpPr/>
          <p:nvPr/>
        </p:nvSpPr>
        <p:spPr>
          <a:xfrm>
            <a:off x="6272213" y="3393281"/>
            <a:ext cx="1857375" cy="471488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Desenvolvi um sistema de análise de dados para... </a:t>
            </a:r>
            <a:endParaRPr lang="en-US" sz="732" dirty="0"/>
          </a:p>
        </p:txBody>
      </p:sp>
      <p:sp>
        <p:nvSpPr>
          <p:cNvPr id="30" name="Shape 23"/>
          <p:cNvSpPr/>
          <p:nvPr/>
        </p:nvSpPr>
        <p:spPr>
          <a:xfrm>
            <a:off x="6015038" y="3936206"/>
            <a:ext cx="1857375" cy="62150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Text 24"/>
          <p:cNvSpPr/>
          <p:nvPr/>
        </p:nvSpPr>
        <p:spPr>
          <a:xfrm>
            <a:off x="6015038" y="3936206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Perfeito! Se você trocar um LEFT JOIN por INNER JOIN em uma query, qual o impacto esperado? </a:t>
            </a:r>
            <a:endParaRPr lang="en-US" sz="732" dirty="0"/>
          </a:p>
        </p:txBody>
      </p:sp>
      <p:sp>
        <p:nvSpPr>
          <p:cNvPr id="32" name="Shape 25"/>
          <p:cNvSpPr/>
          <p:nvPr/>
        </p:nvSpPr>
        <p:spPr>
          <a:xfrm>
            <a:off x="6272213" y="4629150"/>
            <a:ext cx="1857375" cy="621506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3" name="Text 26"/>
          <p:cNvSpPr/>
          <p:nvPr/>
        </p:nvSpPr>
        <p:spPr>
          <a:xfrm>
            <a:off x="6272213" y="4629150"/>
            <a:ext cx="1857375" cy="621506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 INNER JOIN retorna apenas registros com correspondência em ambas... </a:t>
            </a:r>
            <a:endParaRPr lang="en-US" sz="73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3278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Redução de Viés Inconsciente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14400"/>
            <a:ext cx="800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Promovendo Diversidade e Decisões Mais Justas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371600"/>
            <a:ext cx="7858125" cy="53578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771525" y="1543050"/>
            <a:ext cx="32925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Mecanismo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278437" y="1543050"/>
            <a:ext cx="395116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1978819"/>
            <a:ext cx="7858125" cy="685800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2185988"/>
            <a:ext cx="128588" cy="1285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5838" y="2162770"/>
            <a:ext cx="171240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Padronização de Perguntas 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4278437" y="2150269"/>
            <a:ext cx="39511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Todos os candidatos respondem às mesmas perguntas, eliminando variabilidade entre avaliadores </a:t>
            </a:r>
            <a:endParaRPr lang="en-US" sz="837" dirty="0"/>
          </a:p>
        </p:txBody>
      </p:sp>
      <p:sp>
        <p:nvSpPr>
          <p:cNvPr id="12" name="Shape 8"/>
          <p:cNvSpPr/>
          <p:nvPr/>
        </p:nvSpPr>
        <p:spPr>
          <a:xfrm>
            <a:off x="571500" y="2736056"/>
            <a:ext cx="7858125" cy="542925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2943225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5838" y="2920008"/>
            <a:ext cx="116565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Critérios Objetivos </a:t>
            </a:r>
            <a:endParaRPr lang="en-US" sz="942" dirty="0"/>
          </a:p>
        </p:txBody>
      </p:sp>
      <p:sp>
        <p:nvSpPr>
          <p:cNvPr id="15" name="Text 10"/>
          <p:cNvSpPr/>
          <p:nvPr/>
        </p:nvSpPr>
        <p:spPr>
          <a:xfrm>
            <a:off x="4278437" y="2907506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Rubricas claras reduzem interpretação subjetiva e primeiras impressões </a:t>
            </a:r>
            <a:endParaRPr lang="en-US" sz="837" dirty="0"/>
          </a:p>
        </p:txBody>
      </p:sp>
      <p:sp>
        <p:nvSpPr>
          <p:cNvPr id="16" name="Shape 11"/>
          <p:cNvSpPr/>
          <p:nvPr/>
        </p:nvSpPr>
        <p:spPr>
          <a:xfrm>
            <a:off x="571500" y="3350419"/>
            <a:ext cx="7858125" cy="542925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71525" y="3557588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5838" y="3534370"/>
            <a:ext cx="167808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Análise Baseada em Dados 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4278437" y="3521869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Foco em evidências concretas, não em feeling ou afinidade pessoal </a:t>
            </a:r>
            <a:endParaRPr lang="en-US" sz="837" dirty="0"/>
          </a:p>
        </p:txBody>
      </p:sp>
      <p:sp>
        <p:nvSpPr>
          <p:cNvPr id="20" name="Shape 14"/>
          <p:cNvSpPr/>
          <p:nvPr/>
        </p:nvSpPr>
        <p:spPr>
          <a:xfrm>
            <a:off x="571500" y="3964781"/>
            <a:ext cx="7858125" cy="542925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4171950"/>
            <a:ext cx="160734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17984" y="4148733"/>
            <a:ext cx="88456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Anonimização </a:t>
            </a:r>
            <a:endParaRPr lang="en-US" sz="942" dirty="0"/>
          </a:p>
        </p:txBody>
      </p:sp>
      <p:sp>
        <p:nvSpPr>
          <p:cNvPr id="23" name="Text 16"/>
          <p:cNvSpPr/>
          <p:nvPr/>
        </p:nvSpPr>
        <p:spPr>
          <a:xfrm>
            <a:off x="4278437" y="4136231"/>
            <a:ext cx="395116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Nenhuma variável sensível (raça, gênero, idade) influencia o score </a:t>
            </a:r>
            <a:endParaRPr lang="en-US" sz="837" dirty="0"/>
          </a:p>
        </p:txBody>
      </p:sp>
      <p:sp>
        <p:nvSpPr>
          <p:cNvPr id="24" name="Shape 17"/>
          <p:cNvSpPr/>
          <p:nvPr/>
        </p:nvSpPr>
        <p:spPr>
          <a:xfrm>
            <a:off x="571500" y="4722019"/>
            <a:ext cx="7858125" cy="1148665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952405"/>
            <a:ext cx="200025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143000" y="4893469"/>
            <a:ext cx="7058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Evidência Científica</a:t>
            </a:r>
            <a:endParaRPr lang="en-US" sz="942" dirty="0"/>
          </a:p>
        </p:txBody>
      </p:sp>
      <p:sp>
        <p:nvSpPr>
          <p:cNvPr id="27" name="Text 19"/>
          <p:cNvSpPr/>
          <p:nvPr/>
        </p:nvSpPr>
        <p:spPr>
          <a:xfrm>
            <a:off x="1143000" y="5150644"/>
            <a:ext cx="7058025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Estudos demonstram que entrevistas estruturadas reduzem significativamente o gap de pontuação entre grupos demográficos, promovendo maior equidade no processo seletivo. Processos mais justos e transparentes fortalecem a marca empregadora e reduzem riscos legais. </a:t>
            </a:r>
            <a:endParaRPr lang="en-US" sz="83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943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Poder do Score: WeDoTalent Skill Index (WSI)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Cada resposta é analisada pela IA, que gera um score para cada competência. A combinação desses scores gera o WSI, um índice único que reflete a aderência do candidato à vaga. </a:t>
            </a:r>
            <a:endParaRPr lang="en-US" sz="1046" dirty="0"/>
          </a:p>
        </p:txBody>
      </p:sp>
      <p:sp>
        <p:nvSpPr>
          <p:cNvPr id="5" name="Text 2"/>
          <p:cNvSpPr/>
          <p:nvPr/>
        </p:nvSpPr>
        <p:spPr>
          <a:xfrm>
            <a:off x="571500" y="1657350"/>
            <a:ext cx="335756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Classificação do Score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71500" y="2028825"/>
            <a:ext cx="3357563" cy="62865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" name="Shape 4"/>
          <p:cNvSpPr/>
          <p:nvPr/>
        </p:nvSpPr>
        <p:spPr>
          <a:xfrm>
            <a:off x="571500" y="2028825"/>
            <a:ext cx="42863" cy="62865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714375" y="2143125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2E7D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Excelente</a:t>
            </a:r>
            <a:endParaRPr lang="en-US" sz="1046" dirty="0"/>
          </a:p>
        </p:txBody>
      </p:sp>
      <p:sp>
        <p:nvSpPr>
          <p:cNvPr id="9" name="Text 6"/>
          <p:cNvSpPr/>
          <p:nvPr/>
        </p:nvSpPr>
        <p:spPr>
          <a:xfrm>
            <a:off x="714375" y="2371725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Especialista com domínio avançado</a:t>
            </a:r>
            <a:endParaRPr lang="en-US" sz="837" dirty="0"/>
          </a:p>
        </p:txBody>
      </p:sp>
      <p:sp>
        <p:nvSpPr>
          <p:cNvPr id="10" name="Shape 7"/>
          <p:cNvSpPr/>
          <p:nvPr/>
        </p:nvSpPr>
        <p:spPr>
          <a:xfrm>
            <a:off x="571500" y="2743200"/>
            <a:ext cx="3357563" cy="62865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1" name="Shape 8"/>
          <p:cNvSpPr/>
          <p:nvPr/>
        </p:nvSpPr>
        <p:spPr>
          <a:xfrm>
            <a:off x="571500" y="2743200"/>
            <a:ext cx="42863" cy="628650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2" name="Text 9"/>
          <p:cNvSpPr/>
          <p:nvPr/>
        </p:nvSpPr>
        <p:spPr>
          <a:xfrm>
            <a:off x="714375" y="2857500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Alto</a:t>
            </a:r>
            <a:endParaRPr lang="en-US" sz="1046" dirty="0"/>
          </a:p>
        </p:txBody>
      </p:sp>
      <p:sp>
        <p:nvSpPr>
          <p:cNvPr id="13" name="Text 10"/>
          <p:cNvSpPr/>
          <p:nvPr/>
        </p:nvSpPr>
        <p:spPr>
          <a:xfrm>
            <a:off x="714375" y="3086100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Profissional autônomo e competente</a:t>
            </a:r>
            <a:endParaRPr lang="en-US" sz="837" dirty="0"/>
          </a:p>
        </p:txBody>
      </p:sp>
      <p:sp>
        <p:nvSpPr>
          <p:cNvPr id="14" name="Shape 11"/>
          <p:cNvSpPr/>
          <p:nvPr/>
        </p:nvSpPr>
        <p:spPr>
          <a:xfrm>
            <a:off x="571500" y="3457575"/>
            <a:ext cx="3357563" cy="628650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5" name="Shape 12"/>
          <p:cNvSpPr/>
          <p:nvPr/>
        </p:nvSpPr>
        <p:spPr>
          <a:xfrm>
            <a:off x="571500" y="3457575"/>
            <a:ext cx="42863" cy="628650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6" name="Text 13"/>
          <p:cNvSpPr/>
          <p:nvPr/>
        </p:nvSpPr>
        <p:spPr>
          <a:xfrm>
            <a:off x="714375" y="3571875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Médio</a:t>
            </a:r>
            <a:endParaRPr lang="en-US" sz="1046" dirty="0"/>
          </a:p>
        </p:txBody>
      </p:sp>
      <p:sp>
        <p:nvSpPr>
          <p:cNvPr id="17" name="Text 14"/>
          <p:cNvSpPr/>
          <p:nvPr/>
        </p:nvSpPr>
        <p:spPr>
          <a:xfrm>
            <a:off x="714375" y="3800475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Profissional em desenvolvimento</a:t>
            </a:r>
            <a:endParaRPr lang="en-US" sz="837" dirty="0"/>
          </a:p>
        </p:txBody>
      </p:sp>
      <p:sp>
        <p:nvSpPr>
          <p:cNvPr id="18" name="Shape 15"/>
          <p:cNvSpPr/>
          <p:nvPr/>
        </p:nvSpPr>
        <p:spPr>
          <a:xfrm>
            <a:off x="571500" y="4171950"/>
            <a:ext cx="3357563" cy="62865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6"/>
          <p:cNvSpPr/>
          <p:nvPr/>
        </p:nvSpPr>
        <p:spPr>
          <a:xfrm>
            <a:off x="571500" y="4171950"/>
            <a:ext cx="42863" cy="628650"/>
          </a:xfrm>
          <a:prstGeom prst="rect">
            <a:avLst/>
          </a:prstGeom>
          <a:solidFill>
            <a:srgbClr val="C7444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0" name="Text 17"/>
          <p:cNvSpPr/>
          <p:nvPr/>
        </p:nvSpPr>
        <p:spPr>
          <a:xfrm>
            <a:off x="714375" y="4286250"/>
            <a:ext cx="307181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Abaixo da Expectativa</a:t>
            </a:r>
            <a:endParaRPr lang="en-US" sz="1046" dirty="0"/>
          </a:p>
        </p:txBody>
      </p:sp>
      <p:sp>
        <p:nvSpPr>
          <p:cNvPr id="21" name="Text 18"/>
          <p:cNvSpPr/>
          <p:nvPr/>
        </p:nvSpPr>
        <p:spPr>
          <a:xfrm>
            <a:off x="714375" y="4514850"/>
            <a:ext cx="30718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Gap crítico de competências</a:t>
            </a:r>
            <a:endParaRPr lang="en-US" sz="837" dirty="0"/>
          </a:p>
        </p:txBody>
      </p:sp>
      <p:sp>
        <p:nvSpPr>
          <p:cNvPr id="22" name="Text 19"/>
          <p:cNvSpPr/>
          <p:nvPr/>
        </p:nvSpPr>
        <p:spPr>
          <a:xfrm>
            <a:off x="571500" y="4979194"/>
            <a:ext cx="563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Benefício:</a:t>
            </a:r>
            <a:endParaRPr lang="en-US" sz="837" dirty="0"/>
          </a:p>
        </p:txBody>
      </p:sp>
      <p:sp>
        <p:nvSpPr>
          <p:cNvPr id="23" name="Text 20"/>
          <p:cNvSpPr/>
          <p:nvPr/>
        </p:nvSpPr>
        <p:spPr>
          <a:xfrm>
            <a:off x="1134545" y="4979194"/>
            <a:ext cx="22039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Você recebe um ranking claro e objetivo, </a:t>
            </a:r>
            <a:endParaRPr lang="en-US" sz="837" dirty="0"/>
          </a:p>
        </p:txBody>
      </p:sp>
      <p:sp>
        <p:nvSpPr>
          <p:cNvPr id="24" name="Text 21"/>
          <p:cNvSpPr/>
          <p:nvPr/>
        </p:nvSpPr>
        <p:spPr>
          <a:xfrm>
            <a:off x="571500" y="5150644"/>
            <a:ext cx="31633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permitindo focar seu tempo nos candidatos que realmente </a:t>
            </a:r>
            <a:endParaRPr lang="en-US" sz="837" dirty="0"/>
          </a:p>
        </p:txBody>
      </p:sp>
      <p:sp>
        <p:nvSpPr>
          <p:cNvPr id="25" name="Text 22"/>
          <p:cNvSpPr/>
          <p:nvPr/>
        </p:nvSpPr>
        <p:spPr>
          <a:xfrm>
            <a:off x="571500" y="5322094"/>
            <a:ext cx="170604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têm o potencial para performar. </a:t>
            </a:r>
            <a:endParaRPr lang="en-US" sz="837" dirty="0"/>
          </a:p>
        </p:txBody>
      </p:sp>
      <p:sp>
        <p:nvSpPr>
          <p:cNvPr id="26" name="Text 23"/>
          <p:cNvSpPr/>
          <p:nvPr/>
        </p:nvSpPr>
        <p:spPr>
          <a:xfrm>
            <a:off x="4286250" y="1657350"/>
            <a:ext cx="4286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Ranking de Candidatos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4286250" y="2028825"/>
            <a:ext cx="4286250" cy="3228975"/>
          </a:xfrm>
          <a:prstGeom prst="rect">
            <a:avLst/>
          </a:prstGeom>
          <a:solidFill>
            <a:srgbClr val="FAFAFA"/>
          </a:solidFill>
          <a:ln w="198">
            <a:solidFill>
              <a:srgbClr val="DCDCDC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Shape 25"/>
          <p:cNvSpPr/>
          <p:nvPr/>
        </p:nvSpPr>
        <p:spPr>
          <a:xfrm>
            <a:off x="4286250" y="2028825"/>
            <a:ext cx="4286250" cy="35718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9" name="Shape 26"/>
          <p:cNvSpPr/>
          <p:nvPr/>
        </p:nvSpPr>
        <p:spPr>
          <a:xfrm>
            <a:off x="4286250" y="2378869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0" name="Text 27"/>
          <p:cNvSpPr/>
          <p:nvPr/>
        </p:nvSpPr>
        <p:spPr>
          <a:xfrm>
            <a:off x="4429125" y="2128838"/>
            <a:ext cx="357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#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4900613" y="2128838"/>
            <a:ext cx="2000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Candidato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7015163" y="2128838"/>
            <a:ext cx="8572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Score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7986713" y="2128838"/>
            <a:ext cx="5715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Status</a:t>
            </a:r>
            <a:endParaRPr lang="en-US" sz="732" dirty="0"/>
          </a:p>
        </p:txBody>
      </p:sp>
      <p:sp>
        <p:nvSpPr>
          <p:cNvPr id="34" name="Shape 31"/>
          <p:cNvSpPr/>
          <p:nvPr/>
        </p:nvSpPr>
        <p:spPr>
          <a:xfrm>
            <a:off x="4286250" y="2378869"/>
            <a:ext cx="4286250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5" name="Shape 32"/>
          <p:cNvSpPr/>
          <p:nvPr/>
        </p:nvSpPr>
        <p:spPr>
          <a:xfrm>
            <a:off x="4286250" y="2864644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6" name="Text 33"/>
          <p:cNvSpPr/>
          <p:nvPr/>
        </p:nvSpPr>
        <p:spPr>
          <a:xfrm>
            <a:off x="4429125" y="2536031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837" dirty="0"/>
          </a:p>
        </p:txBody>
      </p:sp>
      <p:sp>
        <p:nvSpPr>
          <p:cNvPr id="37" name="Text 34"/>
          <p:cNvSpPr/>
          <p:nvPr/>
        </p:nvSpPr>
        <p:spPr>
          <a:xfrm>
            <a:off x="4900613" y="2536031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Ana Silva</a:t>
            </a:r>
            <a:endParaRPr lang="en-US" sz="837" dirty="0"/>
          </a:p>
        </p:txBody>
      </p:sp>
      <p:sp>
        <p:nvSpPr>
          <p:cNvPr id="38" name="Text 35"/>
          <p:cNvSpPr/>
          <p:nvPr/>
        </p:nvSpPr>
        <p:spPr>
          <a:xfrm>
            <a:off x="7015163" y="2507456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4.7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7317321" y="2550319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13" y="2500313"/>
            <a:ext cx="100013" cy="100013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7986713" y="2625328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42" name="Shape 38"/>
          <p:cNvSpPr/>
          <p:nvPr/>
        </p:nvSpPr>
        <p:spPr>
          <a:xfrm>
            <a:off x="4286250" y="2864644"/>
            <a:ext cx="4286250" cy="4929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3" name="Shape 39"/>
          <p:cNvSpPr/>
          <p:nvPr/>
        </p:nvSpPr>
        <p:spPr>
          <a:xfrm>
            <a:off x="4286250" y="3350419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44" name="Text 40"/>
          <p:cNvSpPr/>
          <p:nvPr/>
        </p:nvSpPr>
        <p:spPr>
          <a:xfrm>
            <a:off x="4429125" y="3021806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837" dirty="0"/>
          </a:p>
        </p:txBody>
      </p:sp>
      <p:sp>
        <p:nvSpPr>
          <p:cNvPr id="45" name="Text 41"/>
          <p:cNvSpPr/>
          <p:nvPr/>
        </p:nvSpPr>
        <p:spPr>
          <a:xfrm>
            <a:off x="4900613" y="3021806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Carlos Mendes</a:t>
            </a:r>
            <a:endParaRPr lang="en-US" sz="837" dirty="0"/>
          </a:p>
        </p:txBody>
      </p:sp>
      <p:sp>
        <p:nvSpPr>
          <p:cNvPr id="46" name="Text 42"/>
          <p:cNvSpPr/>
          <p:nvPr/>
        </p:nvSpPr>
        <p:spPr>
          <a:xfrm>
            <a:off x="7015163" y="2993231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4.3</a:t>
            </a:r>
            <a:endParaRPr lang="en-US" sz="1350" dirty="0"/>
          </a:p>
        </p:txBody>
      </p:sp>
      <p:sp>
        <p:nvSpPr>
          <p:cNvPr id="47" name="Text 43"/>
          <p:cNvSpPr/>
          <p:nvPr/>
        </p:nvSpPr>
        <p:spPr>
          <a:xfrm>
            <a:off x="7317321" y="3036094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713" y="2986088"/>
            <a:ext cx="100013" cy="100013"/>
          </a:xfrm>
          <a:prstGeom prst="rect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7986713" y="3111103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50" name="Shape 45"/>
          <p:cNvSpPr/>
          <p:nvPr/>
        </p:nvSpPr>
        <p:spPr>
          <a:xfrm>
            <a:off x="4286250" y="3350419"/>
            <a:ext cx="4286250" cy="4929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1" name="Shape 46"/>
          <p:cNvSpPr/>
          <p:nvPr/>
        </p:nvSpPr>
        <p:spPr>
          <a:xfrm>
            <a:off x="4286250" y="3836194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2" name="Text 47"/>
          <p:cNvSpPr/>
          <p:nvPr/>
        </p:nvSpPr>
        <p:spPr>
          <a:xfrm>
            <a:off x="4429125" y="3507581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837" dirty="0"/>
          </a:p>
        </p:txBody>
      </p:sp>
      <p:sp>
        <p:nvSpPr>
          <p:cNvPr id="53" name="Text 48"/>
          <p:cNvSpPr/>
          <p:nvPr/>
        </p:nvSpPr>
        <p:spPr>
          <a:xfrm>
            <a:off x="4900613" y="3507581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Beatriz Costa</a:t>
            </a:r>
            <a:endParaRPr lang="en-US" sz="837" dirty="0"/>
          </a:p>
        </p:txBody>
      </p:sp>
      <p:sp>
        <p:nvSpPr>
          <p:cNvPr id="54" name="Text 49"/>
          <p:cNvSpPr/>
          <p:nvPr/>
        </p:nvSpPr>
        <p:spPr>
          <a:xfrm>
            <a:off x="7015163" y="3479006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4.1</a:t>
            </a:r>
            <a:endParaRPr lang="en-US" sz="1350" dirty="0"/>
          </a:p>
        </p:txBody>
      </p:sp>
      <p:sp>
        <p:nvSpPr>
          <p:cNvPr id="55" name="Text 50"/>
          <p:cNvSpPr/>
          <p:nvPr/>
        </p:nvSpPr>
        <p:spPr>
          <a:xfrm>
            <a:off x="7317321" y="3521869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6713" y="3471863"/>
            <a:ext cx="100013" cy="100013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7986713" y="3596878"/>
            <a:ext cx="4684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1976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</a:t>
            </a:r>
            <a:endParaRPr lang="en-US" sz="732" dirty="0"/>
          </a:p>
        </p:txBody>
      </p:sp>
      <p:sp>
        <p:nvSpPr>
          <p:cNvPr id="58" name="Shape 52"/>
          <p:cNvSpPr/>
          <p:nvPr/>
        </p:nvSpPr>
        <p:spPr>
          <a:xfrm>
            <a:off x="4286250" y="3836194"/>
            <a:ext cx="4286250" cy="43576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59" name="Shape 53"/>
          <p:cNvSpPr/>
          <p:nvPr/>
        </p:nvSpPr>
        <p:spPr>
          <a:xfrm>
            <a:off x="4286250" y="4264819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0" name="Text 54"/>
          <p:cNvSpPr/>
          <p:nvPr/>
        </p:nvSpPr>
        <p:spPr>
          <a:xfrm>
            <a:off x="4429125" y="3964781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837" dirty="0"/>
          </a:p>
        </p:txBody>
      </p:sp>
      <p:sp>
        <p:nvSpPr>
          <p:cNvPr id="61" name="Text 55"/>
          <p:cNvSpPr/>
          <p:nvPr/>
        </p:nvSpPr>
        <p:spPr>
          <a:xfrm>
            <a:off x="4900613" y="3964781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Daniel Oliveira</a:t>
            </a:r>
            <a:endParaRPr lang="en-US" sz="837" dirty="0"/>
          </a:p>
        </p:txBody>
      </p:sp>
      <p:sp>
        <p:nvSpPr>
          <p:cNvPr id="62" name="Text 56"/>
          <p:cNvSpPr/>
          <p:nvPr/>
        </p:nvSpPr>
        <p:spPr>
          <a:xfrm>
            <a:off x="7015163" y="3936206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3.6</a:t>
            </a:r>
            <a:endParaRPr lang="en-US" sz="1350" dirty="0"/>
          </a:p>
        </p:txBody>
      </p:sp>
      <p:sp>
        <p:nvSpPr>
          <p:cNvPr id="63" name="Text 57"/>
          <p:cNvSpPr/>
          <p:nvPr/>
        </p:nvSpPr>
        <p:spPr>
          <a:xfrm>
            <a:off x="7317321" y="3979069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4000500"/>
            <a:ext cx="112514" cy="100013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8127802" y="3982641"/>
            <a:ext cx="355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</a:t>
            </a:r>
            <a:endParaRPr lang="en-US" sz="732" dirty="0"/>
          </a:p>
        </p:txBody>
      </p:sp>
      <p:sp>
        <p:nvSpPr>
          <p:cNvPr id="66" name="Shape 59"/>
          <p:cNvSpPr/>
          <p:nvPr/>
        </p:nvSpPr>
        <p:spPr>
          <a:xfrm>
            <a:off x="4286250" y="4264819"/>
            <a:ext cx="4286250" cy="43576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7" name="Shape 60"/>
          <p:cNvSpPr/>
          <p:nvPr/>
        </p:nvSpPr>
        <p:spPr>
          <a:xfrm>
            <a:off x="4286250" y="4693444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8" name="Text 61"/>
          <p:cNvSpPr/>
          <p:nvPr/>
        </p:nvSpPr>
        <p:spPr>
          <a:xfrm>
            <a:off x="4429125" y="4393406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</a:t>
            </a:r>
            <a:endParaRPr lang="en-US" sz="837" dirty="0"/>
          </a:p>
        </p:txBody>
      </p:sp>
      <p:sp>
        <p:nvSpPr>
          <p:cNvPr id="69" name="Text 62"/>
          <p:cNvSpPr/>
          <p:nvPr/>
        </p:nvSpPr>
        <p:spPr>
          <a:xfrm>
            <a:off x="4900613" y="4393406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Fernanda Lima</a:t>
            </a:r>
            <a:endParaRPr lang="en-US" sz="837" dirty="0"/>
          </a:p>
        </p:txBody>
      </p:sp>
      <p:sp>
        <p:nvSpPr>
          <p:cNvPr id="70" name="Text 63"/>
          <p:cNvSpPr/>
          <p:nvPr/>
        </p:nvSpPr>
        <p:spPr>
          <a:xfrm>
            <a:off x="7015163" y="4364831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3.4</a:t>
            </a:r>
            <a:endParaRPr lang="en-US" sz="1350" dirty="0"/>
          </a:p>
        </p:txBody>
      </p:sp>
      <p:sp>
        <p:nvSpPr>
          <p:cNvPr id="71" name="Text 64"/>
          <p:cNvSpPr/>
          <p:nvPr/>
        </p:nvSpPr>
        <p:spPr>
          <a:xfrm>
            <a:off x="7317321" y="4407694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7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6713" y="4429125"/>
            <a:ext cx="112514" cy="100013"/>
          </a:xfrm>
          <a:prstGeom prst="rect">
            <a:avLst/>
          </a:prstGeom>
        </p:spPr>
      </p:pic>
      <p:sp>
        <p:nvSpPr>
          <p:cNvPr id="73" name="Text 65"/>
          <p:cNvSpPr/>
          <p:nvPr/>
        </p:nvSpPr>
        <p:spPr>
          <a:xfrm>
            <a:off x="8127802" y="4411266"/>
            <a:ext cx="35576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</a:t>
            </a:r>
            <a:endParaRPr lang="en-US" sz="732" dirty="0"/>
          </a:p>
        </p:txBody>
      </p:sp>
      <p:sp>
        <p:nvSpPr>
          <p:cNvPr id="74" name="Shape 66"/>
          <p:cNvSpPr/>
          <p:nvPr/>
        </p:nvSpPr>
        <p:spPr>
          <a:xfrm>
            <a:off x="4286250" y="4693444"/>
            <a:ext cx="4286250" cy="492919"/>
          </a:xfrm>
          <a:prstGeom prst="rect">
            <a:avLst/>
          </a:prstGeom>
          <a:solidFill>
            <a:srgbClr val="F9F9F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5" name="Shape 67"/>
          <p:cNvSpPr/>
          <p:nvPr/>
        </p:nvSpPr>
        <p:spPr>
          <a:xfrm>
            <a:off x="4286250" y="5179219"/>
            <a:ext cx="4286250" cy="7144"/>
          </a:xfrm>
          <a:prstGeom prst="rect">
            <a:avLst/>
          </a:prstGeom>
          <a:solidFill>
            <a:srgbClr val="DCDCDC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76" name="Text 68"/>
          <p:cNvSpPr/>
          <p:nvPr/>
        </p:nvSpPr>
        <p:spPr>
          <a:xfrm>
            <a:off x="4429125" y="4850606"/>
            <a:ext cx="35718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</a:t>
            </a:r>
            <a:endParaRPr lang="en-US" sz="837" dirty="0"/>
          </a:p>
        </p:txBody>
      </p:sp>
      <p:sp>
        <p:nvSpPr>
          <p:cNvPr id="77" name="Text 69"/>
          <p:cNvSpPr/>
          <p:nvPr/>
        </p:nvSpPr>
        <p:spPr>
          <a:xfrm>
            <a:off x="4900613" y="4850606"/>
            <a:ext cx="20002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Gabriel Santos</a:t>
            </a:r>
            <a:endParaRPr lang="en-US" sz="837" dirty="0"/>
          </a:p>
        </p:txBody>
      </p:sp>
      <p:sp>
        <p:nvSpPr>
          <p:cNvPr id="78" name="Text 70"/>
          <p:cNvSpPr/>
          <p:nvPr/>
        </p:nvSpPr>
        <p:spPr>
          <a:xfrm>
            <a:off x="7015163" y="4822031"/>
            <a:ext cx="2450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2.8</a:t>
            </a:r>
            <a:endParaRPr lang="en-US" sz="1350" dirty="0"/>
          </a:p>
        </p:txBody>
      </p:sp>
      <p:sp>
        <p:nvSpPr>
          <p:cNvPr id="79" name="Text 71"/>
          <p:cNvSpPr/>
          <p:nvPr/>
        </p:nvSpPr>
        <p:spPr>
          <a:xfrm>
            <a:off x="7317321" y="4864894"/>
            <a:ext cx="204434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/ 5.0</a:t>
            </a:r>
            <a:endParaRPr lang="en-US" sz="732" dirty="0"/>
          </a:p>
        </p:txBody>
      </p:sp>
      <p:pic>
        <p:nvPicPr>
          <p:cNvPr id="8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6713" y="4814888"/>
            <a:ext cx="100013" cy="100013"/>
          </a:xfrm>
          <a:prstGeom prst="rect">
            <a:avLst/>
          </a:prstGeom>
        </p:spPr>
      </p:pic>
      <p:sp>
        <p:nvSpPr>
          <p:cNvPr id="81" name="Text 72"/>
          <p:cNvSpPr/>
          <p:nvPr/>
        </p:nvSpPr>
        <p:spPr>
          <a:xfrm>
            <a:off x="7986713" y="4939903"/>
            <a:ext cx="52408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Reprovado </a:t>
            </a:r>
            <a:endParaRPr lang="en-US" sz="73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23649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Eficiência e Precisão Comprovadas pelo Mercado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metodologia WSI não apenas é robusta na teoria, mas comprovada na prática. Nossos indicadores de performance se equiparam aos de gigantes globais do setor, oferecendo uma solução de ponta com a agilidade que o mercado brasileiro exige. </a:t>
            </a:r>
            <a:endParaRPr lang="en-US" sz="1046" dirty="0"/>
          </a:p>
        </p:txBody>
      </p:sp>
      <p:sp>
        <p:nvSpPr>
          <p:cNvPr id="5" name="Shape 2"/>
          <p:cNvSpPr/>
          <p:nvPr/>
        </p:nvSpPr>
        <p:spPr>
          <a:xfrm>
            <a:off x="571500" y="1943100"/>
            <a:ext cx="2750344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6" name="Text 3"/>
          <p:cNvSpPr/>
          <p:nvPr/>
        </p:nvSpPr>
        <p:spPr>
          <a:xfrm>
            <a:off x="571500" y="1943100"/>
            <a:ext cx="2750344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Métrica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3321844" y="1943100"/>
            <a:ext cx="2514600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8" name="Text 5"/>
          <p:cNvSpPr/>
          <p:nvPr/>
        </p:nvSpPr>
        <p:spPr>
          <a:xfrm>
            <a:off x="3321844" y="1943100"/>
            <a:ext cx="2514600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Benchmark de Mercado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5836444" y="1943100"/>
            <a:ext cx="2593181" cy="478631"/>
          </a:xfrm>
          <a:prstGeom prst="rect">
            <a:avLst/>
          </a:prstGeom>
          <a:solidFill>
            <a:srgbClr val="74A8D2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0" name="Text 7"/>
          <p:cNvSpPr/>
          <p:nvPr/>
        </p:nvSpPr>
        <p:spPr>
          <a:xfrm>
            <a:off x="5836444" y="1943100"/>
            <a:ext cx="2593181" cy="478631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buNone/>
            </a:pPr>
            <a:r>
              <a:rPr lang="en-US" sz="942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Performance WedoTalent (WSI)</a:t>
            </a:r>
            <a:endParaRPr lang="en-US" sz="942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728913"/>
            <a:ext cx="121444" cy="1214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1544" y="2703909"/>
            <a:ext cx="175658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Correlação com Performance </a:t>
            </a:r>
            <a:endParaRPr lang="en-US" sz="889" dirty="0"/>
          </a:p>
        </p:txBody>
      </p:sp>
      <p:sp>
        <p:nvSpPr>
          <p:cNvPr id="13" name="Text 9"/>
          <p:cNvSpPr/>
          <p:nvPr/>
        </p:nvSpPr>
        <p:spPr>
          <a:xfrm>
            <a:off x="3464719" y="2612827"/>
            <a:ext cx="42374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 = 0.64</a:t>
            </a:r>
            <a:endParaRPr lang="en-US" sz="889" dirty="0"/>
          </a:p>
        </p:txBody>
      </p:sp>
      <p:sp>
        <p:nvSpPr>
          <p:cNvPr id="14" name="Text 10"/>
          <p:cNvSpPr/>
          <p:nvPr/>
        </p:nvSpPr>
        <p:spPr>
          <a:xfrm>
            <a:off x="3464719" y="2819995"/>
            <a:ext cx="65150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(HireVue/SHL)</a:t>
            </a:r>
            <a:endParaRPr lang="en-US" sz="732" dirty="0"/>
          </a:p>
        </p:txBody>
      </p:sp>
      <p:sp>
        <p:nvSpPr>
          <p:cNvPr id="15" name="Text 11"/>
          <p:cNvSpPr/>
          <p:nvPr/>
        </p:nvSpPr>
        <p:spPr>
          <a:xfrm>
            <a:off x="5979319" y="2589609"/>
            <a:ext cx="51250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≥ 0.60</a:t>
            </a:r>
            <a:endParaRPr lang="en-US" sz="1238" dirty="0"/>
          </a:p>
        </p:txBody>
      </p:sp>
      <p:sp>
        <p:nvSpPr>
          <p:cNvPr id="16" name="Text 12"/>
          <p:cNvSpPr/>
          <p:nvPr/>
        </p:nvSpPr>
        <p:spPr>
          <a:xfrm>
            <a:off x="5979319" y="2846784"/>
            <a:ext cx="83961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Validade Preditiva</a:t>
            </a:r>
            <a:endParaRPr lang="en-US" sz="732" dirty="0"/>
          </a:p>
        </p:txBody>
      </p:sp>
      <p:sp>
        <p:nvSpPr>
          <p:cNvPr id="17" name="Shape 13"/>
          <p:cNvSpPr/>
          <p:nvPr/>
        </p:nvSpPr>
        <p:spPr>
          <a:xfrm>
            <a:off x="571500" y="3157538"/>
            <a:ext cx="7858125" cy="73937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468291"/>
            <a:ext cx="121444" cy="1214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1544" y="3443288"/>
            <a:ext cx="112664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Tempo de Triagem </a:t>
            </a:r>
            <a:endParaRPr lang="en-US" sz="889" dirty="0"/>
          </a:p>
        </p:txBody>
      </p:sp>
      <p:sp>
        <p:nvSpPr>
          <p:cNvPr id="20" name="Text 15"/>
          <p:cNvSpPr/>
          <p:nvPr/>
        </p:nvSpPr>
        <p:spPr>
          <a:xfrm>
            <a:off x="3464719" y="3352205"/>
            <a:ext cx="680107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6-9 minutos</a:t>
            </a:r>
            <a:endParaRPr lang="en-US" sz="889" dirty="0"/>
          </a:p>
        </p:txBody>
      </p:sp>
      <p:sp>
        <p:nvSpPr>
          <p:cNvPr id="21" name="Text 16"/>
          <p:cNvSpPr/>
          <p:nvPr/>
        </p:nvSpPr>
        <p:spPr>
          <a:xfrm>
            <a:off x="3464719" y="3559373"/>
            <a:ext cx="55369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(Paradox.ai)</a:t>
            </a:r>
            <a:endParaRPr lang="en-US" sz="732" dirty="0"/>
          </a:p>
        </p:txBody>
      </p:sp>
      <p:sp>
        <p:nvSpPr>
          <p:cNvPr id="22" name="Text 17"/>
          <p:cNvSpPr/>
          <p:nvPr/>
        </p:nvSpPr>
        <p:spPr>
          <a:xfrm>
            <a:off x="5979319" y="3328988"/>
            <a:ext cx="9236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5-9 minutos</a:t>
            </a:r>
            <a:endParaRPr lang="en-US" sz="1238" dirty="0"/>
          </a:p>
        </p:txBody>
      </p:sp>
      <p:sp>
        <p:nvSpPr>
          <p:cNvPr id="23" name="Text 18"/>
          <p:cNvSpPr/>
          <p:nvPr/>
        </p:nvSpPr>
        <p:spPr>
          <a:xfrm>
            <a:off x="5979319" y="3586163"/>
            <a:ext cx="114015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WSI Compact/Compact+</a:t>
            </a:r>
            <a:endParaRPr lang="en-US" sz="732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75" y="4207669"/>
            <a:ext cx="121444" cy="1214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1544" y="4182666"/>
            <a:ext cx="177466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Assertividade da Contratação </a:t>
            </a:r>
            <a:endParaRPr lang="en-US" sz="889" dirty="0"/>
          </a:p>
        </p:txBody>
      </p:sp>
      <p:sp>
        <p:nvSpPr>
          <p:cNvPr id="26" name="Text 20"/>
          <p:cNvSpPr/>
          <p:nvPr/>
        </p:nvSpPr>
        <p:spPr>
          <a:xfrm>
            <a:off x="3464719" y="4091583"/>
            <a:ext cx="98444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+47% no top 25%</a:t>
            </a:r>
            <a:endParaRPr lang="en-US" sz="889" dirty="0"/>
          </a:p>
        </p:txBody>
      </p:sp>
      <p:sp>
        <p:nvSpPr>
          <p:cNvPr id="27" name="Text 21"/>
          <p:cNvSpPr/>
          <p:nvPr/>
        </p:nvSpPr>
        <p:spPr>
          <a:xfrm>
            <a:off x="3464719" y="4298752"/>
            <a:ext cx="2496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(IBM)</a:t>
            </a:r>
            <a:endParaRPr lang="en-US" sz="732" dirty="0"/>
          </a:p>
        </p:txBody>
      </p:sp>
      <p:sp>
        <p:nvSpPr>
          <p:cNvPr id="28" name="Text 22"/>
          <p:cNvSpPr/>
          <p:nvPr/>
        </p:nvSpPr>
        <p:spPr>
          <a:xfrm>
            <a:off x="5979319" y="4068366"/>
            <a:ext cx="41129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+50%</a:t>
            </a:r>
            <a:endParaRPr lang="en-US" sz="1238" dirty="0"/>
          </a:p>
        </p:txBody>
      </p:sp>
      <p:sp>
        <p:nvSpPr>
          <p:cNvPr id="29" name="Text 23"/>
          <p:cNvSpPr/>
          <p:nvPr/>
        </p:nvSpPr>
        <p:spPr>
          <a:xfrm>
            <a:off x="5979319" y="4325541"/>
            <a:ext cx="104374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Melhora na Qualidade</a:t>
            </a:r>
            <a:endParaRPr lang="en-US" sz="732" dirty="0"/>
          </a:p>
        </p:txBody>
      </p:sp>
      <p:sp>
        <p:nvSpPr>
          <p:cNvPr id="30" name="Shape 24"/>
          <p:cNvSpPr/>
          <p:nvPr/>
        </p:nvSpPr>
        <p:spPr>
          <a:xfrm>
            <a:off x="571500" y="4636294"/>
            <a:ext cx="7858125" cy="739378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375" y="4947047"/>
            <a:ext cx="137517" cy="1214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37617" y="4922044"/>
            <a:ext cx="1846213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Tempo de Triagem </a:t>
            </a:r>
            <a:endParaRPr lang="en-US" sz="889" dirty="0"/>
          </a:p>
        </p:txBody>
      </p:sp>
      <p:sp>
        <p:nvSpPr>
          <p:cNvPr id="33" name="Text 26"/>
          <p:cNvSpPr/>
          <p:nvPr/>
        </p:nvSpPr>
        <p:spPr>
          <a:xfrm>
            <a:off x="3464719" y="4830961"/>
            <a:ext cx="12147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89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</a:t>
            </a:r>
            <a:endParaRPr lang="en-US" sz="889" dirty="0"/>
          </a:p>
        </p:txBody>
      </p:sp>
      <p:sp>
        <p:nvSpPr>
          <p:cNvPr id="34" name="Text 27"/>
          <p:cNvSpPr/>
          <p:nvPr/>
        </p:nvSpPr>
        <p:spPr>
          <a:xfrm>
            <a:off x="3464719" y="5038130"/>
            <a:ext cx="756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(Não disponível)</a:t>
            </a:r>
            <a:endParaRPr lang="en-US" sz="732" dirty="0"/>
          </a:p>
        </p:txBody>
      </p:sp>
      <p:sp>
        <p:nvSpPr>
          <p:cNvPr id="35" name="Text 28"/>
          <p:cNvSpPr/>
          <p:nvPr/>
        </p:nvSpPr>
        <p:spPr>
          <a:xfrm>
            <a:off x="5979319" y="4807744"/>
            <a:ext cx="6318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38" b="1" dirty="0">
                <a:solidFill>
                  <a:srgbClr val="4CAF5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Até 90%</a:t>
            </a:r>
            <a:endParaRPr lang="en-US" sz="1238" dirty="0"/>
          </a:p>
        </p:txBody>
      </p:sp>
      <p:sp>
        <p:nvSpPr>
          <p:cNvPr id="36" name="Text 29"/>
          <p:cNvSpPr/>
          <p:nvPr/>
        </p:nvSpPr>
        <p:spPr>
          <a:xfrm>
            <a:off x="5979319" y="5064919"/>
            <a:ext cx="93982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Economia de tempo</a:t>
            </a:r>
            <a:endParaRPr lang="en-US" sz="732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636419"/>
            <a:ext cx="114300" cy="11430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742950" y="5614988"/>
            <a:ext cx="4231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i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Benchmarks baseados em estudos de mercado e literatura científica de 2022-2024. </a:t>
            </a:r>
            <a:endParaRPr lang="en-US" sz="83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9151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Governança Humana: A Parceria Perfeita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971550"/>
            <a:ext cx="71437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Nossa tecnologia não substitui o recrutador, ela o potencializa. A LIA faz o trabalho pesado e analítico, liberando o profissional de RH para focar no que é mais importante: o relacionamento humano e a decisão estratégica final. </a:t>
            </a:r>
            <a:endParaRPr lang="en-US" sz="104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971675"/>
            <a:ext cx="214313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1538" y="1939528"/>
            <a:ext cx="302833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IA como Copiloto, Recrutador como 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571500" y="2168128"/>
            <a:ext cx="1033332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Estrategista 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1500" y="2543175"/>
            <a:ext cx="3714750" cy="87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4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LIA realiza a triagem inicial, analisa respostas e gera scores objetivos. O recrutador mantém total controle sobre as decisões finais, podendo revisar, ajustar e aprovar candidatos com base em sua expertise. 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571500" y="3588953"/>
            <a:ext cx="3714750" cy="1302953"/>
          </a:xfrm>
          <a:prstGeom prst="rect">
            <a:avLst/>
          </a:prstGeom>
          <a:solidFill>
            <a:srgbClr val="F3EBE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3760403"/>
            <a:ext cx="142875" cy="1428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733614"/>
            <a:ext cx="255919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Princípio: Human-in-the-Loop (HITL) 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714375" y="4017578"/>
            <a:ext cx="3429000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decisão final é sempre sua, mas agora ela é informada por dados ricos, objetivos e imparciais. O recrutador tem acesso total às respostas, scores detalhados e pode intervir em qualquer etapa do processo. </a:t>
            </a:r>
            <a:endParaRPr lang="en-US" sz="837" dirty="0"/>
          </a:p>
        </p:txBody>
      </p:sp>
      <p:sp>
        <p:nvSpPr>
          <p:cNvPr id="13" name="Text 8"/>
          <p:cNvSpPr/>
          <p:nvPr/>
        </p:nvSpPr>
        <p:spPr>
          <a:xfrm>
            <a:off x="571500" y="5075858"/>
            <a:ext cx="114347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b="1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Transparência total:</a:t>
            </a:r>
            <a:endParaRPr lang="en-US" sz="837" dirty="0"/>
          </a:p>
        </p:txBody>
      </p:sp>
      <p:sp>
        <p:nvSpPr>
          <p:cNvPr id="14" name="Text 9"/>
          <p:cNvSpPr/>
          <p:nvPr/>
        </p:nvSpPr>
        <p:spPr>
          <a:xfrm>
            <a:off x="1714974" y="5075858"/>
            <a:ext cx="25320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Todos os critérios, pesos e rubricas são visíveis </a:t>
            </a:r>
            <a:endParaRPr lang="en-US" sz="837" dirty="0"/>
          </a:p>
        </p:txBody>
      </p:sp>
      <p:sp>
        <p:nvSpPr>
          <p:cNvPr id="15" name="Text 10"/>
          <p:cNvSpPr/>
          <p:nvPr/>
        </p:nvSpPr>
        <p:spPr>
          <a:xfrm>
            <a:off x="571500" y="5258721"/>
            <a:ext cx="36472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 auditáveis. O sistema não é uma caixa preta, mas uma ferramenta </a:t>
            </a:r>
            <a:endParaRPr lang="en-US" sz="837" dirty="0"/>
          </a:p>
        </p:txBody>
      </p:sp>
      <p:sp>
        <p:nvSpPr>
          <p:cNvPr id="16" name="Text 11"/>
          <p:cNvSpPr/>
          <p:nvPr/>
        </p:nvSpPr>
        <p:spPr>
          <a:xfrm>
            <a:off x="571500" y="5441584"/>
            <a:ext cx="2429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837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transparente que apoia a tomada de decisão. </a:t>
            </a:r>
            <a:endParaRPr lang="en-US" sz="837" dirty="0"/>
          </a:p>
        </p:txBody>
      </p:sp>
      <p:sp>
        <p:nvSpPr>
          <p:cNvPr id="17" name="Text 12"/>
          <p:cNvSpPr/>
          <p:nvPr/>
        </p:nvSpPr>
        <p:spPr>
          <a:xfrm>
            <a:off x="4857750" y="1943100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Painel de Controle do Recrutador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4857750" y="2314575"/>
            <a:ext cx="3714750" cy="1000125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19" name="Shape 14"/>
          <p:cNvSpPr/>
          <p:nvPr/>
        </p:nvSpPr>
        <p:spPr>
          <a:xfrm>
            <a:off x="4857750" y="2314575"/>
            <a:ext cx="42863" cy="1000125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4891" y="2643188"/>
            <a:ext cx="285750" cy="28575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774941" y="2586038"/>
            <a:ext cx="2280419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E7D3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Aprovado Automático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5774941" y="2814638"/>
            <a:ext cx="228041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Candidatos com score alto avançam direto</a:t>
            </a:r>
            <a:endParaRPr lang="en-US" sz="837" dirty="0"/>
          </a:p>
        </p:txBody>
      </p:sp>
      <p:sp>
        <p:nvSpPr>
          <p:cNvPr id="23" name="Text 17"/>
          <p:cNvSpPr/>
          <p:nvPr/>
        </p:nvSpPr>
        <p:spPr>
          <a:xfrm>
            <a:off x="4857750" y="3429000"/>
            <a:ext cx="3714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800" dirty="0"/>
          </a:p>
        </p:txBody>
      </p:sp>
      <p:sp>
        <p:nvSpPr>
          <p:cNvPr id="24" name="Shape 18"/>
          <p:cNvSpPr/>
          <p:nvPr/>
        </p:nvSpPr>
        <p:spPr>
          <a:xfrm>
            <a:off x="4857750" y="3829050"/>
            <a:ext cx="3714750" cy="1000125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25" name="Shape 19"/>
          <p:cNvSpPr/>
          <p:nvPr/>
        </p:nvSpPr>
        <p:spPr>
          <a:xfrm>
            <a:off x="4857750" y="3829050"/>
            <a:ext cx="42863" cy="1000125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394" y="4157663"/>
            <a:ext cx="321469" cy="2857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9163" y="4100513"/>
            <a:ext cx="288769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3B868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Revisão Manual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489163" y="4329113"/>
            <a:ext cx="288769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recrutador foca sua análise neste grupo estratégico</a:t>
            </a:r>
            <a:endParaRPr lang="en-US" sz="837" dirty="0"/>
          </a:p>
        </p:txBody>
      </p:sp>
      <p:sp>
        <p:nvSpPr>
          <p:cNvPr id="29" name="Text 22"/>
          <p:cNvSpPr/>
          <p:nvPr/>
        </p:nvSpPr>
        <p:spPr>
          <a:xfrm>
            <a:off x="4857750" y="4943475"/>
            <a:ext cx="371475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DCDCD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↓</a:t>
            </a:r>
            <a:endParaRPr lang="en-US" sz="1800" dirty="0"/>
          </a:p>
        </p:txBody>
      </p:sp>
      <p:sp>
        <p:nvSpPr>
          <p:cNvPr id="30" name="Shape 23"/>
          <p:cNvSpPr/>
          <p:nvPr/>
        </p:nvSpPr>
        <p:spPr>
          <a:xfrm>
            <a:off x="4857750" y="5343525"/>
            <a:ext cx="3714750" cy="1000125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BR"/>
          </a:p>
        </p:txBody>
      </p:sp>
      <p:sp>
        <p:nvSpPr>
          <p:cNvPr id="31" name="Shape 24"/>
          <p:cNvSpPr/>
          <p:nvPr/>
        </p:nvSpPr>
        <p:spPr>
          <a:xfrm>
            <a:off x="4857750" y="5343525"/>
            <a:ext cx="42863" cy="1000125"/>
          </a:xfrm>
          <a:prstGeom prst="rect">
            <a:avLst/>
          </a:prstGeom>
          <a:solidFill>
            <a:srgbClr val="C74446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6404" y="5672138"/>
            <a:ext cx="285750" cy="28575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16454" y="5614988"/>
            <a:ext cx="279739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Não Aprovado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5516454" y="5843588"/>
            <a:ext cx="279739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Triagem automática, economizando tempo precioso</a:t>
            </a:r>
            <a:endParaRPr lang="en-US" sz="83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115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65499" y="414338"/>
            <a:ext cx="215205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O Diferencial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717554" y="414338"/>
            <a:ext cx="1860947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74A8D2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WedoTalent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71500" y="1085850"/>
            <a:ext cx="2571750" cy="2214563"/>
          </a:xfrm>
          <a:prstGeom prst="rect">
            <a:avLst/>
          </a:prstGeom>
          <a:solidFill>
            <a:srgbClr val="B4C8E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7350" y="1435894"/>
            <a:ext cx="400050" cy="400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87050" y="2100263"/>
            <a:ext cx="154062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PRECISÃO CIENTÍFICA </a:t>
            </a:r>
            <a:endParaRPr lang="en-US" sz="1046" dirty="0"/>
          </a:p>
        </p:txBody>
      </p:sp>
      <p:sp>
        <p:nvSpPr>
          <p:cNvPr id="8" name="Text 4"/>
          <p:cNvSpPr/>
          <p:nvPr/>
        </p:nvSpPr>
        <p:spPr>
          <a:xfrm>
            <a:off x="771525" y="2386013"/>
            <a:ext cx="21717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Metodologia única que integra 4 frameworks consagrados, garantindo uma avaliação profunda e multidimensional. </a:t>
            </a:r>
            <a:endParaRPr lang="en-US" sz="837" dirty="0"/>
          </a:p>
        </p:txBody>
      </p:sp>
      <p:sp>
        <p:nvSpPr>
          <p:cNvPr id="9" name="Shape 5"/>
          <p:cNvSpPr/>
          <p:nvPr/>
        </p:nvSpPr>
        <p:spPr>
          <a:xfrm>
            <a:off x="3286125" y="1085850"/>
            <a:ext cx="2571750" cy="2214563"/>
          </a:xfrm>
          <a:prstGeom prst="rect">
            <a:avLst/>
          </a:prstGeom>
          <a:solidFill>
            <a:srgbClr val="F3B9A9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969" y="1435894"/>
            <a:ext cx="500063" cy="400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44131" y="2100263"/>
            <a:ext cx="125573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REDUÇÃO DE VIÉS </a:t>
            </a:r>
            <a:endParaRPr lang="en-US" sz="1046" dirty="0"/>
          </a:p>
        </p:txBody>
      </p:sp>
      <p:sp>
        <p:nvSpPr>
          <p:cNvPr id="12" name="Text 7"/>
          <p:cNvSpPr/>
          <p:nvPr/>
        </p:nvSpPr>
        <p:spPr>
          <a:xfrm>
            <a:off x="3486150" y="2386013"/>
            <a:ext cx="2171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Processos estruturados e baseados em dados promovem maior diversidade e decisões mais justas. </a:t>
            </a:r>
            <a:endParaRPr lang="en-US" sz="837" dirty="0"/>
          </a:p>
        </p:txBody>
      </p:sp>
      <p:sp>
        <p:nvSpPr>
          <p:cNvPr id="13" name="Shape 8"/>
          <p:cNvSpPr/>
          <p:nvPr/>
        </p:nvSpPr>
        <p:spPr>
          <a:xfrm>
            <a:off x="6000750" y="1085850"/>
            <a:ext cx="2571750" cy="2214563"/>
          </a:xfrm>
          <a:prstGeom prst="rect">
            <a:avLst/>
          </a:prstGeom>
          <a:solidFill>
            <a:srgbClr val="F0C14A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435894"/>
            <a:ext cx="400050" cy="4000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356989" y="2100263"/>
            <a:ext cx="18592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EFICIÊNCIA COMPROVADA </a:t>
            </a:r>
            <a:endParaRPr lang="en-US" sz="1046" dirty="0"/>
          </a:p>
        </p:txBody>
      </p:sp>
      <p:sp>
        <p:nvSpPr>
          <p:cNvPr id="16" name="Text 10"/>
          <p:cNvSpPr/>
          <p:nvPr/>
        </p:nvSpPr>
        <p:spPr>
          <a:xfrm>
            <a:off x="6200775" y="2386013"/>
            <a:ext cx="21717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Reduza em até 90% o tempo de triagem e melhore a qualidade da contratação em mais de 50%. </a:t>
            </a:r>
            <a:endParaRPr lang="en-US" sz="837" dirty="0"/>
          </a:p>
        </p:txBody>
      </p:sp>
      <p:sp>
        <p:nvSpPr>
          <p:cNvPr id="17" name="Shape 11"/>
          <p:cNvSpPr/>
          <p:nvPr/>
        </p:nvSpPr>
        <p:spPr>
          <a:xfrm>
            <a:off x="1714500" y="3443288"/>
            <a:ext cx="2786063" cy="2214563"/>
          </a:xfrm>
          <a:prstGeom prst="rect">
            <a:avLst/>
          </a:prstGeom>
          <a:solidFill>
            <a:srgbClr val="B4D3C1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2503" y="3793331"/>
            <a:ext cx="450056" cy="4000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2078022" y="4457700"/>
            <a:ext cx="20589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EXPERIÊNCIA ENCANTADORA </a:t>
            </a:r>
            <a:endParaRPr lang="en-US" sz="1046" dirty="0"/>
          </a:p>
        </p:txBody>
      </p:sp>
      <p:sp>
        <p:nvSpPr>
          <p:cNvPr id="20" name="Text 13"/>
          <p:cNvSpPr/>
          <p:nvPr/>
        </p:nvSpPr>
        <p:spPr>
          <a:xfrm>
            <a:off x="1914525" y="4743450"/>
            <a:ext cx="238601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Processo conversacional, rápido e moderno para o candidato, fortalecendo sua marca empregadora. </a:t>
            </a:r>
            <a:endParaRPr lang="en-US" sz="837" dirty="0"/>
          </a:p>
        </p:txBody>
      </p:sp>
      <p:sp>
        <p:nvSpPr>
          <p:cNvPr id="21" name="Shape 14"/>
          <p:cNvSpPr/>
          <p:nvPr/>
        </p:nvSpPr>
        <p:spPr>
          <a:xfrm>
            <a:off x="4643438" y="3443288"/>
            <a:ext cx="2786063" cy="2214563"/>
          </a:xfrm>
          <a:prstGeom prst="rect">
            <a:avLst/>
          </a:prstGeom>
          <a:solidFill>
            <a:srgbClr val="E1B8A2"/>
          </a:solidFill>
          <a:ln/>
        </p:spPr>
        <p:txBody>
          <a:bodyPr/>
          <a:lstStyle/>
          <a:p>
            <a:endParaRPr lang="en-BR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6444" y="3793331"/>
            <a:ext cx="400050" cy="40005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253642" y="4457700"/>
            <a:ext cx="15656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046" b="1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GOVERNANÇA E ÉTICA </a:t>
            </a:r>
            <a:endParaRPr lang="en-US" sz="1046" dirty="0"/>
          </a:p>
        </p:txBody>
      </p:sp>
      <p:sp>
        <p:nvSpPr>
          <p:cNvPr id="24" name="Text 16"/>
          <p:cNvSpPr/>
          <p:nvPr/>
        </p:nvSpPr>
        <p:spPr>
          <a:xfrm>
            <a:off x="4843463" y="4743450"/>
            <a:ext cx="23860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837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Plataforma transparente, auditável e alinhada às melhores práticas de IA Responsável, com o recrutador sempre no controle. </a:t>
            </a:r>
            <a:endParaRPr lang="en-US" sz="837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57200"/>
            <a:ext cx="8001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000000"/>
                </a:solidFill>
                <a:latin typeface="Source Serif Pro" pitchFamily="34" charset="0"/>
                <a:ea typeface="Source Serif Pro" pitchFamily="34" charset="-122"/>
                <a:cs typeface="Source Serif Pro" pitchFamily="34" charset="-120"/>
              </a:rPr>
              <a:t> Referências 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71500" y="1085850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C7444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Custos de Má Contratação </a:t>
            </a:r>
            <a:endParaRPr lang="en-US" sz="942" dirty="0"/>
          </a:p>
        </p:txBody>
      </p:sp>
      <p:sp>
        <p:nvSpPr>
          <p:cNvPr id="5" name="Text 2"/>
          <p:cNvSpPr/>
          <p:nvPr/>
        </p:nvSpPr>
        <p:spPr>
          <a:xfrm>
            <a:off x="571500" y="1439466"/>
            <a:ext cx="12334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U.S. Department of Labor. </a:t>
            </a:r>
            <a:endParaRPr lang="en-US" sz="732" dirty="0"/>
          </a:p>
        </p:txBody>
      </p:sp>
      <p:sp>
        <p:nvSpPr>
          <p:cNvPr id="6" name="Text 3"/>
          <p:cNvSpPr/>
          <p:nvPr/>
        </p:nvSpPr>
        <p:spPr>
          <a:xfrm>
            <a:off x="1804969" y="1439466"/>
            <a:ext cx="10061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Cost of a Bad Hire.</a:t>
            </a:r>
            <a:endParaRPr lang="en-US" sz="732" dirty="0"/>
          </a:p>
        </p:txBody>
      </p:sp>
      <p:sp>
        <p:nvSpPr>
          <p:cNvPr id="7" name="Text 4"/>
          <p:cNvSpPr/>
          <p:nvPr/>
        </p:nvSpPr>
        <p:spPr>
          <a:xfrm>
            <a:off x="571500" y="1670912"/>
            <a:ext cx="7140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Forbes. (2022). </a:t>
            </a:r>
            <a:endParaRPr lang="en-US" sz="732" dirty="0"/>
          </a:p>
        </p:txBody>
      </p:sp>
      <p:sp>
        <p:nvSpPr>
          <p:cNvPr id="8" name="Text 5"/>
          <p:cNvSpPr/>
          <p:nvPr/>
        </p:nvSpPr>
        <p:spPr>
          <a:xfrm>
            <a:off x="1285512" y="1670912"/>
            <a:ext cx="12803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Real Costs Of A Bad Hire.</a:t>
            </a:r>
            <a:endParaRPr lang="en-US" sz="732" dirty="0"/>
          </a:p>
        </p:txBody>
      </p:sp>
      <p:sp>
        <p:nvSpPr>
          <p:cNvPr id="9" name="Text 6"/>
          <p:cNvSpPr/>
          <p:nvPr/>
        </p:nvSpPr>
        <p:spPr>
          <a:xfrm>
            <a:off x="571500" y="1902358"/>
            <a:ext cx="100403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Business News Daily. </a:t>
            </a:r>
            <a:endParaRPr lang="en-US" sz="732" dirty="0"/>
          </a:p>
        </p:txBody>
      </p:sp>
      <p:sp>
        <p:nvSpPr>
          <p:cNvPr id="10" name="Text 7"/>
          <p:cNvSpPr/>
          <p:nvPr/>
        </p:nvSpPr>
        <p:spPr>
          <a:xfrm>
            <a:off x="571500" y="1902358"/>
            <a:ext cx="2364916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Disengaged Employees Reduce Productivity.</a:t>
            </a:r>
            <a:endParaRPr lang="en-US" sz="732" dirty="0"/>
          </a:p>
        </p:txBody>
      </p:sp>
      <p:sp>
        <p:nvSpPr>
          <p:cNvPr id="11" name="Text 8"/>
          <p:cNvSpPr/>
          <p:nvPr/>
        </p:nvSpPr>
        <p:spPr>
          <a:xfrm>
            <a:off x="571500" y="2293813"/>
            <a:ext cx="35665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Gallup. </a:t>
            </a:r>
            <a:endParaRPr lang="en-US" sz="732" dirty="0"/>
          </a:p>
        </p:txBody>
      </p:sp>
      <p:sp>
        <p:nvSpPr>
          <p:cNvPr id="12" name="Text 9"/>
          <p:cNvSpPr/>
          <p:nvPr/>
        </p:nvSpPr>
        <p:spPr>
          <a:xfrm>
            <a:off x="928157" y="2293813"/>
            <a:ext cx="165821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State of the Global Workplace Report.</a:t>
            </a:r>
            <a:endParaRPr lang="en-US" sz="732" dirty="0"/>
          </a:p>
        </p:txBody>
      </p:sp>
      <p:sp>
        <p:nvSpPr>
          <p:cNvPr id="13" name="Text 10"/>
          <p:cNvSpPr/>
          <p:nvPr/>
        </p:nvSpPr>
        <p:spPr>
          <a:xfrm>
            <a:off x="571500" y="2614557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74A8D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Benchmarks de Mercado 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71500" y="2968172"/>
            <a:ext cx="103793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HireVue / SHL. (2023). </a:t>
            </a:r>
            <a:endParaRPr lang="en-US" sz="732" dirty="0"/>
          </a:p>
        </p:txBody>
      </p:sp>
      <p:sp>
        <p:nvSpPr>
          <p:cNvPr id="15" name="Text 12"/>
          <p:cNvSpPr/>
          <p:nvPr/>
        </p:nvSpPr>
        <p:spPr>
          <a:xfrm>
            <a:off x="1609437" y="2968172"/>
            <a:ext cx="11726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Score Correlation Study.</a:t>
            </a:r>
            <a:endParaRPr lang="en-US" sz="732" dirty="0"/>
          </a:p>
        </p:txBody>
      </p:sp>
      <p:sp>
        <p:nvSpPr>
          <p:cNvPr id="16" name="Text 13"/>
          <p:cNvSpPr/>
          <p:nvPr/>
        </p:nvSpPr>
        <p:spPr>
          <a:xfrm>
            <a:off x="571500" y="3199619"/>
            <a:ext cx="88811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Paradox.ai. (2024). </a:t>
            </a:r>
            <a:endParaRPr lang="en-US" sz="732" dirty="0"/>
          </a:p>
        </p:txBody>
      </p:sp>
      <p:sp>
        <p:nvSpPr>
          <p:cNvPr id="17" name="Text 14"/>
          <p:cNvSpPr/>
          <p:nvPr/>
        </p:nvSpPr>
        <p:spPr>
          <a:xfrm>
            <a:off x="571500" y="3199619"/>
            <a:ext cx="2346610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Conversational Recruiting Global Report.</a:t>
            </a:r>
            <a:endParaRPr lang="en-US" sz="732" dirty="0"/>
          </a:p>
        </p:txBody>
      </p:sp>
      <p:sp>
        <p:nvSpPr>
          <p:cNvPr id="18" name="Text 15"/>
          <p:cNvSpPr/>
          <p:nvPr/>
        </p:nvSpPr>
        <p:spPr>
          <a:xfrm>
            <a:off x="571500" y="3591074"/>
            <a:ext cx="11888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IBM HR Analytics. (2022). </a:t>
            </a:r>
            <a:endParaRPr lang="en-US" sz="732" dirty="0"/>
          </a:p>
        </p:txBody>
      </p:sp>
      <p:sp>
        <p:nvSpPr>
          <p:cNvPr id="19" name="Text 16"/>
          <p:cNvSpPr/>
          <p:nvPr/>
        </p:nvSpPr>
        <p:spPr>
          <a:xfrm>
            <a:off x="571500" y="3591074"/>
            <a:ext cx="237644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Adaptive Talent Acquisition Systems.</a:t>
            </a:r>
            <a:endParaRPr lang="en-US" sz="732" dirty="0"/>
          </a:p>
        </p:txBody>
      </p:sp>
      <p:sp>
        <p:nvSpPr>
          <p:cNvPr id="20" name="Text 17"/>
          <p:cNvSpPr/>
          <p:nvPr/>
        </p:nvSpPr>
        <p:spPr>
          <a:xfrm>
            <a:off x="571500" y="3982529"/>
            <a:ext cx="63559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Gupy. (2023). </a:t>
            </a:r>
            <a:endParaRPr lang="en-US" sz="732" dirty="0"/>
          </a:p>
        </p:txBody>
      </p:sp>
      <p:sp>
        <p:nvSpPr>
          <p:cNvPr id="21" name="Text 18"/>
          <p:cNvSpPr/>
          <p:nvPr/>
        </p:nvSpPr>
        <p:spPr>
          <a:xfrm>
            <a:off x="1207098" y="3982529"/>
            <a:ext cx="17497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Relatório de Métricas de Recrutamento.</a:t>
            </a:r>
            <a:endParaRPr lang="en-US" sz="732" dirty="0"/>
          </a:p>
        </p:txBody>
      </p:sp>
      <p:sp>
        <p:nvSpPr>
          <p:cNvPr id="22" name="Text 19"/>
          <p:cNvSpPr/>
          <p:nvPr/>
        </p:nvSpPr>
        <p:spPr>
          <a:xfrm>
            <a:off x="3333731" y="1085850"/>
            <a:ext cx="2476509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F0C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Fundamentação Científica </a:t>
            </a:r>
            <a:endParaRPr lang="en-US" sz="942" dirty="0"/>
          </a:p>
        </p:txBody>
      </p:sp>
      <p:sp>
        <p:nvSpPr>
          <p:cNvPr id="23" name="Text 20"/>
          <p:cNvSpPr/>
          <p:nvPr/>
        </p:nvSpPr>
        <p:spPr>
          <a:xfrm>
            <a:off x="3333731" y="1439466"/>
            <a:ext cx="11474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McClelland, D. C. (1973). </a:t>
            </a:r>
            <a:endParaRPr lang="en-US" sz="732" dirty="0"/>
          </a:p>
        </p:txBody>
      </p:sp>
      <p:sp>
        <p:nvSpPr>
          <p:cNvPr id="24" name="Text 21"/>
          <p:cNvSpPr/>
          <p:nvPr/>
        </p:nvSpPr>
        <p:spPr>
          <a:xfrm>
            <a:off x="3333731" y="1439466"/>
            <a:ext cx="2185011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Testing for Competence Rather Than Intelligence.</a:t>
            </a:r>
            <a:endParaRPr lang="en-US" sz="732" dirty="0"/>
          </a:p>
        </p:txBody>
      </p:sp>
      <p:sp>
        <p:nvSpPr>
          <p:cNvPr id="25" name="Text 22"/>
          <p:cNvSpPr/>
          <p:nvPr/>
        </p:nvSpPr>
        <p:spPr>
          <a:xfrm>
            <a:off x="4440789" y="1599474"/>
            <a:ext cx="11130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American Psychologist. </a:t>
            </a:r>
            <a:endParaRPr lang="en-US" sz="732" dirty="0"/>
          </a:p>
        </p:txBody>
      </p:sp>
      <p:sp>
        <p:nvSpPr>
          <p:cNvPr id="26" name="Text 23"/>
          <p:cNvSpPr/>
          <p:nvPr/>
        </p:nvSpPr>
        <p:spPr>
          <a:xfrm>
            <a:off x="3333731" y="1759483"/>
            <a:ext cx="89813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Harvard University. </a:t>
            </a:r>
            <a:endParaRPr lang="en-US" sz="732" dirty="0"/>
          </a:p>
        </p:txBody>
      </p:sp>
      <p:sp>
        <p:nvSpPr>
          <p:cNvPr id="27" name="Text 24"/>
          <p:cNvSpPr/>
          <p:nvPr/>
        </p:nvSpPr>
        <p:spPr>
          <a:xfrm>
            <a:off x="3333731" y="1990930"/>
            <a:ext cx="18940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Anderson, L. W., Krathwohl, D. R. (2001). </a:t>
            </a:r>
            <a:endParaRPr lang="en-US" sz="732" dirty="0"/>
          </a:p>
        </p:txBody>
      </p:sp>
      <p:sp>
        <p:nvSpPr>
          <p:cNvPr id="28" name="Text 25"/>
          <p:cNvSpPr/>
          <p:nvPr/>
        </p:nvSpPr>
        <p:spPr>
          <a:xfrm>
            <a:off x="3333731" y="1990930"/>
            <a:ext cx="242622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Taxonomy for Learning, Teaching, and Assessing.</a:t>
            </a:r>
            <a:endParaRPr lang="en-US" sz="732" dirty="0"/>
          </a:p>
        </p:txBody>
      </p:sp>
      <p:sp>
        <p:nvSpPr>
          <p:cNvPr id="29" name="Text 26"/>
          <p:cNvSpPr/>
          <p:nvPr/>
        </p:nvSpPr>
        <p:spPr>
          <a:xfrm>
            <a:off x="5024149" y="2150938"/>
            <a:ext cx="5004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Longman. </a:t>
            </a:r>
            <a:endParaRPr lang="en-US" sz="732" dirty="0"/>
          </a:p>
        </p:txBody>
      </p:sp>
      <p:sp>
        <p:nvSpPr>
          <p:cNvPr id="30" name="Text 27"/>
          <p:cNvSpPr/>
          <p:nvPr/>
        </p:nvSpPr>
        <p:spPr>
          <a:xfrm>
            <a:off x="3333731" y="2382385"/>
            <a:ext cx="15047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Dreyfus, H. &amp; Dreyfus, S. (1980). </a:t>
            </a:r>
            <a:endParaRPr lang="en-US" sz="732" dirty="0"/>
          </a:p>
        </p:txBody>
      </p:sp>
      <p:sp>
        <p:nvSpPr>
          <p:cNvPr id="31" name="Text 28"/>
          <p:cNvSpPr/>
          <p:nvPr/>
        </p:nvSpPr>
        <p:spPr>
          <a:xfrm>
            <a:off x="3333731" y="2382385"/>
            <a:ext cx="2450920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Five-Stage Model of the Mental Activities Involved in Directed Skill Acquisition.</a:t>
            </a:r>
            <a:endParaRPr lang="en-US" sz="732" dirty="0"/>
          </a:p>
        </p:txBody>
      </p:sp>
      <p:sp>
        <p:nvSpPr>
          <p:cNvPr id="32" name="Text 29"/>
          <p:cNvSpPr/>
          <p:nvPr/>
        </p:nvSpPr>
        <p:spPr>
          <a:xfrm>
            <a:off x="3844705" y="2702402"/>
            <a:ext cx="157321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University of California, Berkeley. </a:t>
            </a:r>
            <a:endParaRPr lang="en-US" sz="732" dirty="0"/>
          </a:p>
        </p:txBody>
      </p:sp>
      <p:sp>
        <p:nvSpPr>
          <p:cNvPr id="33" name="Text 30"/>
          <p:cNvSpPr/>
          <p:nvPr/>
        </p:nvSpPr>
        <p:spPr>
          <a:xfrm>
            <a:off x="3333731" y="2933849"/>
            <a:ext cx="105504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Goldberg, L. R. (1992). </a:t>
            </a:r>
            <a:endParaRPr lang="en-US" sz="732" dirty="0"/>
          </a:p>
        </p:txBody>
      </p:sp>
      <p:sp>
        <p:nvSpPr>
          <p:cNvPr id="34" name="Text 31"/>
          <p:cNvSpPr/>
          <p:nvPr/>
        </p:nvSpPr>
        <p:spPr>
          <a:xfrm>
            <a:off x="3333731" y="2933849"/>
            <a:ext cx="2473942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Development of Markers for the Big-Five Factor Structure.</a:t>
            </a:r>
            <a:endParaRPr lang="en-US" sz="732" dirty="0"/>
          </a:p>
        </p:txBody>
      </p:sp>
      <p:sp>
        <p:nvSpPr>
          <p:cNvPr id="35" name="Text 32"/>
          <p:cNvSpPr/>
          <p:nvPr/>
        </p:nvSpPr>
        <p:spPr>
          <a:xfrm>
            <a:off x="4608193" y="3093858"/>
            <a:ext cx="65929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Psychological </a:t>
            </a:r>
            <a:endParaRPr lang="en-US" sz="732" dirty="0"/>
          </a:p>
        </p:txBody>
      </p:sp>
      <p:sp>
        <p:nvSpPr>
          <p:cNvPr id="36" name="Text 33"/>
          <p:cNvSpPr/>
          <p:nvPr/>
        </p:nvSpPr>
        <p:spPr>
          <a:xfrm>
            <a:off x="3333731" y="3253867"/>
            <a:ext cx="5865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Assessment. </a:t>
            </a:r>
            <a:endParaRPr lang="en-US" sz="732" dirty="0"/>
          </a:p>
        </p:txBody>
      </p:sp>
      <p:sp>
        <p:nvSpPr>
          <p:cNvPr id="37" name="Text 34"/>
          <p:cNvSpPr/>
          <p:nvPr/>
        </p:nvSpPr>
        <p:spPr>
          <a:xfrm>
            <a:off x="6095991" y="1085850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B4D3C1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Validade de Entrevistas </a:t>
            </a:r>
            <a:endParaRPr lang="en-US" sz="942" dirty="0"/>
          </a:p>
        </p:txBody>
      </p:sp>
      <p:sp>
        <p:nvSpPr>
          <p:cNvPr id="38" name="Text 35"/>
          <p:cNvSpPr/>
          <p:nvPr/>
        </p:nvSpPr>
        <p:spPr>
          <a:xfrm>
            <a:off x="6095991" y="1439466"/>
            <a:ext cx="21990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McDaniel, M. A., Whetzel, D. L., Schmidt, F. L., &amp; </a:t>
            </a:r>
            <a:endParaRPr lang="en-US" sz="732" dirty="0"/>
          </a:p>
        </p:txBody>
      </p:sp>
      <p:sp>
        <p:nvSpPr>
          <p:cNvPr id="39" name="Text 36"/>
          <p:cNvSpPr/>
          <p:nvPr/>
        </p:nvSpPr>
        <p:spPr>
          <a:xfrm>
            <a:off x="6095991" y="1599474"/>
            <a:ext cx="95363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Maurer, S. D. (1994). </a:t>
            </a:r>
            <a:endParaRPr lang="en-US" sz="732" dirty="0"/>
          </a:p>
        </p:txBody>
      </p:sp>
      <p:sp>
        <p:nvSpPr>
          <p:cNvPr id="40" name="Text 37"/>
          <p:cNvSpPr/>
          <p:nvPr/>
        </p:nvSpPr>
        <p:spPr>
          <a:xfrm>
            <a:off x="6095991" y="1599474"/>
            <a:ext cx="2412104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validity of employment interviews: A comprehensive review and meta-analysis.</a:t>
            </a:r>
            <a:endParaRPr lang="en-US" sz="732" dirty="0"/>
          </a:p>
        </p:txBody>
      </p:sp>
      <p:sp>
        <p:nvSpPr>
          <p:cNvPr id="41" name="Text 38"/>
          <p:cNvSpPr/>
          <p:nvPr/>
        </p:nvSpPr>
        <p:spPr>
          <a:xfrm>
            <a:off x="6095991" y="1919492"/>
            <a:ext cx="141538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Journal of Applied Psychology. </a:t>
            </a:r>
            <a:endParaRPr lang="en-US" sz="732" dirty="0"/>
          </a:p>
        </p:txBody>
      </p:sp>
      <p:sp>
        <p:nvSpPr>
          <p:cNvPr id="42" name="Text 39"/>
          <p:cNvSpPr/>
          <p:nvPr/>
        </p:nvSpPr>
        <p:spPr>
          <a:xfrm>
            <a:off x="6095991" y="2150938"/>
            <a:ext cx="12646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Huffcutt, A. I., et al. (2023). </a:t>
            </a:r>
            <a:endParaRPr lang="en-US" sz="732" dirty="0"/>
          </a:p>
        </p:txBody>
      </p:sp>
      <p:sp>
        <p:nvSpPr>
          <p:cNvPr id="43" name="Text 40"/>
          <p:cNvSpPr/>
          <p:nvPr/>
        </p:nvSpPr>
        <p:spPr>
          <a:xfrm>
            <a:off x="6095991" y="2150938"/>
            <a:ext cx="2222292" cy="29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Structured interviews: Moving beyond mean validity.</a:t>
            </a:r>
            <a:endParaRPr lang="en-US" sz="732" dirty="0"/>
          </a:p>
        </p:txBody>
      </p:sp>
      <p:sp>
        <p:nvSpPr>
          <p:cNvPr id="44" name="Text 41"/>
          <p:cNvSpPr/>
          <p:nvPr/>
        </p:nvSpPr>
        <p:spPr>
          <a:xfrm>
            <a:off x="7417864" y="2310947"/>
            <a:ext cx="107586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Personnel Psychology. </a:t>
            </a:r>
            <a:endParaRPr lang="en-US" sz="732" dirty="0"/>
          </a:p>
        </p:txBody>
      </p:sp>
      <p:sp>
        <p:nvSpPr>
          <p:cNvPr id="45" name="Text 42"/>
          <p:cNvSpPr/>
          <p:nvPr/>
        </p:nvSpPr>
        <p:spPr>
          <a:xfrm>
            <a:off x="6095991" y="2542394"/>
            <a:ext cx="127998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Hughes, R. H., et al. (2021). </a:t>
            </a:r>
            <a:endParaRPr lang="en-US" sz="732" dirty="0"/>
          </a:p>
        </p:txBody>
      </p:sp>
      <p:sp>
        <p:nvSpPr>
          <p:cNvPr id="46" name="Text 43"/>
          <p:cNvSpPr/>
          <p:nvPr/>
        </p:nvSpPr>
        <p:spPr>
          <a:xfrm>
            <a:off x="6095991" y="2542394"/>
            <a:ext cx="2138186" cy="4557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Using structured interviews to reduce bias in emergency medicine residency recruitment.</a:t>
            </a:r>
            <a:endParaRPr lang="en-US" sz="732" dirty="0"/>
          </a:p>
        </p:txBody>
      </p:sp>
      <p:sp>
        <p:nvSpPr>
          <p:cNvPr id="47" name="Text 44"/>
          <p:cNvSpPr/>
          <p:nvPr/>
        </p:nvSpPr>
        <p:spPr>
          <a:xfrm>
            <a:off x="7080321" y="2862411"/>
            <a:ext cx="26724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PMC. </a:t>
            </a:r>
            <a:endParaRPr lang="en-US" sz="732" dirty="0"/>
          </a:p>
        </p:txBody>
      </p:sp>
      <p:sp>
        <p:nvSpPr>
          <p:cNvPr id="48" name="Text 45"/>
          <p:cNvSpPr/>
          <p:nvPr/>
        </p:nvSpPr>
        <p:spPr>
          <a:xfrm>
            <a:off x="6095991" y="3183155"/>
            <a:ext cx="2476481" cy="257175"/>
          </a:xfrm>
          <a:prstGeom prst="rect">
            <a:avLst/>
          </a:prstGeom>
          <a:noFill/>
          <a:ln/>
        </p:spPr>
        <p:txBody>
          <a:bodyPr wrap="none" lIns="0" tIns="0" rIns="0" bIns="51054" rtlCol="0" anchor="ctr">
            <a:spAutoFit/>
          </a:bodyPr>
          <a:lstStyle/>
          <a:p>
            <a:pPr marL="0" indent="0">
              <a:buNone/>
            </a:pPr>
            <a:r>
              <a:rPr lang="en-US" sz="942" b="1" dirty="0">
                <a:solidFill>
                  <a:srgbClr val="E17B75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Governança de IA </a:t>
            </a:r>
            <a:endParaRPr lang="en-US" sz="942" dirty="0"/>
          </a:p>
        </p:txBody>
      </p:sp>
      <p:sp>
        <p:nvSpPr>
          <p:cNvPr id="49" name="Text 46"/>
          <p:cNvSpPr/>
          <p:nvPr/>
        </p:nvSpPr>
        <p:spPr>
          <a:xfrm>
            <a:off x="6095991" y="3536770"/>
            <a:ext cx="6604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OECD. (2023). </a:t>
            </a:r>
            <a:endParaRPr lang="en-US" sz="732" dirty="0"/>
          </a:p>
        </p:txBody>
      </p:sp>
      <p:sp>
        <p:nvSpPr>
          <p:cNvPr id="50" name="Text 47"/>
          <p:cNvSpPr/>
          <p:nvPr/>
        </p:nvSpPr>
        <p:spPr>
          <a:xfrm>
            <a:off x="6756397" y="3536770"/>
            <a:ext cx="152410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Principles on Artificial Intelligence.</a:t>
            </a:r>
            <a:endParaRPr lang="en-US" sz="732" dirty="0"/>
          </a:p>
        </p:txBody>
      </p:sp>
      <p:sp>
        <p:nvSpPr>
          <p:cNvPr id="51" name="Text 48"/>
          <p:cNvSpPr/>
          <p:nvPr/>
        </p:nvSpPr>
        <p:spPr>
          <a:xfrm>
            <a:off x="6095991" y="3768217"/>
            <a:ext cx="111484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União Europeia. (2024). </a:t>
            </a:r>
            <a:endParaRPr lang="en-US" sz="732" dirty="0"/>
          </a:p>
        </p:txBody>
      </p:sp>
      <p:sp>
        <p:nvSpPr>
          <p:cNvPr id="52" name="Text 49"/>
          <p:cNvSpPr/>
          <p:nvPr/>
        </p:nvSpPr>
        <p:spPr>
          <a:xfrm>
            <a:off x="7210834" y="3768217"/>
            <a:ext cx="5272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732" i="1" dirty="0">
                <a:solidFill>
                  <a:srgbClr val="33333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Act Draft.</a:t>
            </a:r>
            <a:endParaRPr lang="en-US" sz="73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1931</Words>
  <Application>Microsoft Macintosh PowerPoint</Application>
  <PresentationFormat>On-screen Show (16:9)</PresentationFormat>
  <Paragraphs>294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Noto Sans</vt:lpstr>
      <vt:lpstr>Source Serif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Paulo Moraes | LANDTech</cp:lastModifiedBy>
  <cp:revision>1</cp:revision>
  <dcterms:created xsi:type="dcterms:W3CDTF">2025-10-23T01:02:34Z</dcterms:created>
  <dcterms:modified xsi:type="dcterms:W3CDTF">2025-10-23T16:58:07Z</dcterms:modified>
</cp:coreProperties>
</file>